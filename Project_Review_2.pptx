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B2A3A"/>
                </a:solidFill>
                <a:latin typeface="Calibri"/>
              </a:defRPr>
            </a:pPr>
            <a:r>
              <a:rPr sz="1050" b="0" i="0" u="none" strike="noStrike">
                <a:solidFill>
                  <a:srgbClr val="1B2A3A"/>
                </a:solidFill>
                <a:latin typeface="Calibri"/>
              </a:rPr>
              <a:t>Average reward per task (10 seeds, 6,000 tasks)</a:t>
            </a:r>
          </a:p>
        </c:rich>
      </c:tx>
      <c:layout/>
      <c:overlay val="0"/>
    </c:title>
    <c:autoTitleDeleted val="0"/>
    <c:plotArea>
      <c:layout/>
      <c:barChart>
        <c:barDir val="bar"/>
        <c:grouping val="clustered"/>
        <c:varyColors val="0"/>
        <c:ser>
          <c:idx val="0"/>
          <c:order val="0"/>
          <c:tx>
            <c:strRef>
              <c:f>Sheet1!$B$1</c:f>
              <c:strCache>
                <c:ptCount val="1"/>
                <c:pt idx="0">
                  <c:v>Average reward per task</c:v>
                </c:pt>
              </c:strCache>
            </c:strRef>
          </c:tx>
          <c:spPr>
            <a:solidFill>
              <a:srgbClr val="222222"/>
            </a:solidFill>
            <a:effectLst/>
          </c:spPr>
          <c:invertIfNegative val="0"/>
          <c:dLbls>
            <c:numFmt formatCode="0.00" sourceLinked="0"/>
            <c:txPr>
              <a:bodyPr/>
              <a:lstStyle/>
              <a:p>
                <a:pPr>
                  <a:defRPr b="0" i="0" strike="noStrike" sz="800" u="none">
                    <a:solidFill>
                      <a:srgbClr val="1B2A3A"/>
                    </a:solidFill>
                    <a:latin typeface="Arial"/>
                  </a:defRPr>
                </a:pPr>
              </a:p>
            </c:txPr>
            <c:showLegendKey val="0"/>
            <c:showVal val="1"/>
            <c:showCatName val="0"/>
            <c:showSerName val="0"/>
            <c:showPercent val="0"/>
            <c:showBubbleSize val="0"/>
            <c:showLeaderLines val="0"/>
          </c:dLbls>
          <c:dPt>
            <c:idx val="0"/>
            <c:invertIfNegative val="0"/>
            <c:bubble3D val="0"/>
            <c:spPr>
              <a:solidFill>
                <a:srgbClr val="222222"/>
              </a:solidFill>
              <a:effectLst/>
            </c:spPr>
          </c:dPt>
          <c:dPt>
            <c:idx val="1"/>
            <c:invertIfNegative val="0"/>
            <c:bubble3D val="0"/>
            <c:spPr>
              <a:solidFill>
                <a:srgbClr val="0E7C7B"/>
              </a:solidFill>
              <a:effectLst/>
            </c:spPr>
          </c:dPt>
          <c:dPt>
            <c:idx val="2"/>
            <c:invertIfNegative val="0"/>
            <c:bubble3D val="0"/>
            <c:spPr>
              <a:solidFill>
                <a:srgbClr val="17BEBB"/>
              </a:solidFill>
              <a:effectLst/>
            </c:spPr>
          </c:dPt>
          <c:dPt>
            <c:idx val="3"/>
            <c:invertIfNegative val="0"/>
            <c:bubble3D val="0"/>
            <c:spPr>
              <a:solidFill>
                <a:srgbClr val="8FB8A8"/>
              </a:solidFill>
              <a:effectLst/>
            </c:spPr>
          </c:dPt>
          <c:dPt>
            <c:idx val="4"/>
            <c:invertIfNegative val="0"/>
            <c:bubble3D val="0"/>
            <c:spPr>
              <a:solidFill>
                <a:srgbClr val="7A8B99"/>
              </a:solidFill>
              <a:effectLst/>
            </c:spPr>
          </c:dPt>
          <c:dPt>
            <c:idx val="5"/>
            <c:invertIfNegative val="0"/>
            <c:bubble3D val="0"/>
            <c:spPr>
              <a:solidFill>
                <a:srgbClr val="D1495B"/>
              </a:solidFill>
              <a:effectLst/>
            </c:spPr>
          </c:dPt>
          <c:dPt>
            <c:idx val="6"/>
            <c:invertIfNegative val="0"/>
            <c:bubble3D val="0"/>
            <c:spPr>
              <a:solidFill>
                <a:srgbClr val="B8C4CE"/>
              </a:solidFill>
              <a:effectLst/>
            </c:spPr>
          </c:dPt>
          <c:dPt>
            <c:idx val="7"/>
            <c:invertIfNegative val="0"/>
            <c:bubble3D val="0"/>
            <c:spPr>
              <a:solidFill>
                <a:srgbClr val="B8C4CE"/>
              </a:solidFill>
              <a:effectLst/>
            </c:spPr>
          </c:dPt>
          <c:dPt>
            <c:idx val="8"/>
            <c:invertIfNegative val="0"/>
            <c:bubble3D val="0"/>
            <c:spPr>
              <a:solidFill>
                <a:srgbClr val="B8C4CE"/>
              </a:solidFill>
              <a:effectLst/>
            </c:spPr>
          </c:dPt>
          <c:dPt>
            <c:idx val="9"/>
            <c:invertIfNegative val="0"/>
            <c:bubble3D val="0"/>
            <c:spPr>
              <a:solidFill>
                <a:srgbClr val="B8C4CE"/>
              </a:solidFill>
              <a:effectLst/>
            </c:spPr>
          </c:dPt>
          <c:cat>
            <c:multiLvlStrRef>
              <c:f>Sheet1!$A$2:$A$11</c:f>
              <c:multiLvlStrCache>
                <c:ptCount val="10"/>
                <c:lvl>
                  <c:pt idx="0">
                    <c:v>Oracle</c:v>
                  </c:pt>
                  <c:pt idx="1">
                    <c:v>LinUCB</c:v>
                  </c:pt>
                  <c:pt idx="2">
                    <c:v>Thompson Sampling</c:v>
                  </c:pt>
                  <c:pt idx="3">
                    <c:v>Epsilon-greedy</c:v>
                  </c:pt>
                  <c:pt idx="4">
                    <c:v>Always bit</c:v>
                  </c:pt>
                  <c:pt idx="5">
                    <c:v>DQN</c:v>
                  </c:pt>
                  <c:pt idx="6">
                    <c:v>Threshold rule</c:v>
                  </c:pt>
                  <c:pt idx="7">
                    <c:v>Random</c:v>
                  </c:pt>
                  <c:pt idx="8">
                    <c:v>Always compressed</c:v>
                  </c:pt>
                  <c:pt idx="9">
                    <c:v>Always semantic</c:v>
                  </c:pt>
                </c:lvl>
              </c:multiLvlStrCache>
            </c:multiLvlStrRef>
          </c:cat>
          <c:val>
            <c:numRef>
              <c:f>Sheet1!$B$2:$B$11</c:f>
              <c:numCache>
                <c:formatCode>General</c:formatCode>
                <c:ptCount val="10"/>
                <c:pt idx="0">
                  <c:v>0.696</c:v>
                </c:pt>
                <c:pt idx="1">
                  <c:v>0.507</c:v>
                </c:pt>
                <c:pt idx="2">
                  <c:v>0.503</c:v>
                </c:pt>
                <c:pt idx="3">
                  <c:v>0.442</c:v>
                </c:pt>
                <c:pt idx="4">
                  <c:v>0.423</c:v>
                </c:pt>
                <c:pt idx="5">
                  <c:v>-0.082</c:v>
                </c:pt>
                <c:pt idx="6">
                  <c:v>-0.822</c:v>
                </c:pt>
                <c:pt idx="7">
                  <c:v>-2.095</c:v>
                </c:pt>
                <c:pt idx="8">
                  <c:v>-3.219</c:v>
                </c:pt>
                <c:pt idx="9">
                  <c:v>-3.534</c:v>
                </c:pt>
              </c:numCache>
            </c:numRef>
          </c:val>
        </c:ser>
        <c:dLbls>
          <c:numFmt formatCode="0.00" sourceLinked="0"/>
          <c:txPr>
            <a:bodyPr/>
            <a:lstStyle/>
            <a:p>
              <a:pPr>
                <a:defRPr b="0" i="0" strike="noStrike" sz="800" u="none">
                  <a:solidFill>
                    <a:srgbClr val="1B2A3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A3A"/>
                </a:solidFill>
                <a:latin typeface="Arial"/>
              </a:defRPr>
            </a:pPr>
            <a:endParaRPr lang="en-US"/>
          </a:p>
        </c:txPr>
        <c:crossAx val="2094734552"/>
        <c:crosses val="autoZero"/>
        <c:auto val="1"/>
        <c:lblAlgn val="ctr"/>
        <c:noMultiLvlLbl val="1"/>
      </c:catAx>
      <c:valAx>
        <c:axId val="2094734552"/>
        <c:scaling>
          <c:orientation val="minMax"/>
          <c:max val="1.5"/>
          <c:min val="-4"/>
        </c:scaling>
        <c:delete val="0"/>
        <c:axPos val="b"/>
        <c:majorGridlines>
          <c:spPr>
            <a:ln w="6350" cap="flat">
              <a:solidFill>
                <a:srgbClr val="E2E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B2A3A"/>
                </a:solidFill>
                <a:latin typeface="Calibri"/>
              </a:defRPr>
            </a:pPr>
            <a:r>
              <a:rPr sz="1050" b="0" i="0" u="none" strike="noStrike">
                <a:solidFill>
                  <a:srgbClr val="1B2A3A"/>
                </a:solidFill>
                <a:latin typeface="Calibri"/>
              </a:rPr>
              <a:t>Cumulative regret vs oracle (lower is better)</a:t>
            </a:r>
          </a:p>
        </c:rich>
      </c:tx>
      <c:layout/>
      <c:overlay val="0"/>
    </c:title>
    <c:autoTitleDeleted val="0"/>
    <c:plotArea>
      <c:layout/>
      <c:lineChart>
        <c:varyColors val="0"/>
        <c:ser>
          <c:idx val="0"/>
          <c:order val="0"/>
          <c:tx>
            <c:strRef>
              <c:f>Sheet1!$B$1</c:f>
              <c:strCache>
                <c:ptCount val="1"/>
                <c:pt idx="0">
                  <c:v>Always bit</c:v>
                </c:pt>
              </c:strCache>
            </c:strRef>
          </c:tx>
          <c:spPr>
            <a:solidFill>
              <a:srgbClr val="7A8B99"/>
            </a:solidFill>
            <a:ln w="28575" cap="flat">
              <a:solidFill>
                <a:srgbClr val="7A8B9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A8B99"/>
              </a:solidFill>
              <a:ln w="9525" cap="flat">
                <a:solidFill>
                  <a:srgbClr val="7A8B99"/>
                </a:solidFill>
                <a:prstDash val="solid"/>
                <a:round/>
              </a:ln>
              <a:effectLst/>
            </c:spPr>
          </c:marker>
          <c:cat>
            <c:multiLvlStrRef>
              <c:f>Sheet1!$A$2:$A$11</c:f>
              <c:multiLvlStrCache>
                <c:ptCount val="10"/>
                <c:lvl>
                  <c:pt idx="0">
                    <c:v>600</c:v>
                  </c:pt>
                  <c:pt idx="1">
                    <c:v>1200</c:v>
                  </c:pt>
                  <c:pt idx="2">
                    <c:v>1800</c:v>
                  </c:pt>
                  <c:pt idx="3">
                    <c:v>2400</c:v>
                  </c:pt>
                  <c:pt idx="4">
                    <c:v>3000</c:v>
                  </c:pt>
                  <c:pt idx="5">
                    <c:v>3600</c:v>
                  </c:pt>
                  <c:pt idx="6">
                    <c:v>4200</c:v>
                  </c:pt>
                  <c:pt idx="7">
                    <c:v>4800</c:v>
                  </c:pt>
                  <c:pt idx="8">
                    <c:v>5400</c:v>
                  </c:pt>
                  <c:pt idx="9">
                    <c:v>6000</c:v>
                  </c:pt>
                </c:lvl>
              </c:multiLvlStrCache>
            </c:multiLvlStrRef>
          </c:cat>
          <c:val>
            <c:numRef>
              <c:f>Sheet1!$B$2:$B$11</c:f>
              <c:numCache>
                <c:formatCode>General</c:formatCode>
                <c:ptCount val="10"/>
                <c:pt idx="0">
                  <c:v>163</c:v>
                </c:pt>
                <c:pt idx="1">
                  <c:v>328</c:v>
                </c:pt>
                <c:pt idx="2">
                  <c:v>498</c:v>
                </c:pt>
                <c:pt idx="3">
                  <c:v>669</c:v>
                </c:pt>
                <c:pt idx="4">
                  <c:v>830</c:v>
                </c:pt>
                <c:pt idx="5">
                  <c:v>998</c:v>
                </c:pt>
                <c:pt idx="6">
                  <c:v>1162</c:v>
                </c:pt>
                <c:pt idx="7">
                  <c:v>1320</c:v>
                </c:pt>
                <c:pt idx="8">
                  <c:v>1481</c:v>
                </c:pt>
                <c:pt idx="9">
                  <c:v>1642</c:v>
                </c:pt>
              </c:numCache>
            </c:numRef>
          </c:val>
          <c:smooth val="0"/>
        </c:ser>
        <c:ser>
          <c:idx val="1"/>
          <c:order val="1"/>
          <c:tx>
            <c:strRef>
              <c:f>Sheet1!$C$1</c:f>
              <c:strCache>
                <c:ptCount val="1"/>
                <c:pt idx="0">
                  <c:v>Thompson Sampling</c:v>
                </c:pt>
              </c:strCache>
            </c:strRef>
          </c:tx>
          <c:spPr>
            <a:solidFill>
              <a:srgbClr val="17BEBB"/>
            </a:solidFill>
            <a:ln w="28575" cap="flat">
              <a:solidFill>
                <a:srgbClr val="17BEB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BEBB"/>
              </a:solidFill>
              <a:ln w="9525" cap="flat">
                <a:solidFill>
                  <a:srgbClr val="17BEBB"/>
                </a:solidFill>
                <a:prstDash val="solid"/>
                <a:round/>
              </a:ln>
              <a:effectLst/>
            </c:spPr>
          </c:marker>
          <c:cat>
            <c:multiLvlStrRef>
              <c:f>Sheet1!$A$2:$A$11</c:f>
              <c:multiLvlStrCache>
                <c:ptCount val="10"/>
                <c:lvl>
                  <c:pt idx="0">
                    <c:v>600</c:v>
                  </c:pt>
                  <c:pt idx="1">
                    <c:v>1200</c:v>
                  </c:pt>
                  <c:pt idx="2">
                    <c:v>1800</c:v>
                  </c:pt>
                  <c:pt idx="3">
                    <c:v>2400</c:v>
                  </c:pt>
                  <c:pt idx="4">
                    <c:v>3000</c:v>
                  </c:pt>
                  <c:pt idx="5">
                    <c:v>3600</c:v>
                  </c:pt>
                  <c:pt idx="6">
                    <c:v>4200</c:v>
                  </c:pt>
                  <c:pt idx="7">
                    <c:v>4800</c:v>
                  </c:pt>
                  <c:pt idx="8">
                    <c:v>5400</c:v>
                  </c:pt>
                  <c:pt idx="9">
                    <c:v>6000</c:v>
                  </c:pt>
                </c:lvl>
              </c:multiLvlStrCache>
            </c:multiLvlStrRef>
          </c:cat>
          <c:val>
            <c:numRef>
              <c:f>Sheet1!$C$2:$C$11</c:f>
              <c:numCache>
                <c:formatCode>General</c:formatCode>
                <c:ptCount val="10"/>
                <c:pt idx="0">
                  <c:v>173</c:v>
                </c:pt>
                <c:pt idx="1">
                  <c:v>298</c:v>
                </c:pt>
                <c:pt idx="2">
                  <c:v>429</c:v>
                </c:pt>
                <c:pt idx="3">
                  <c:v>555</c:v>
                </c:pt>
                <c:pt idx="4">
                  <c:v>687</c:v>
                </c:pt>
                <c:pt idx="5">
                  <c:v>811</c:v>
                </c:pt>
                <c:pt idx="6">
                  <c:v>937</c:v>
                </c:pt>
                <c:pt idx="7">
                  <c:v>1060</c:v>
                </c:pt>
                <c:pt idx="8">
                  <c:v>1181</c:v>
                </c:pt>
                <c:pt idx="9">
                  <c:v>1299</c:v>
                </c:pt>
              </c:numCache>
            </c:numRef>
          </c:val>
          <c:smooth val="0"/>
        </c:ser>
        <c:ser>
          <c:idx val="2"/>
          <c:order val="2"/>
          <c:tx>
            <c:strRef>
              <c:f>Sheet1!$D$1</c:f>
              <c:strCache>
                <c:ptCount val="1"/>
                <c:pt idx="0">
                  <c:v>LinUCB</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Sheet1!$A$2:$A$11</c:f>
              <c:multiLvlStrCache>
                <c:ptCount val="10"/>
                <c:lvl>
                  <c:pt idx="0">
                    <c:v>600</c:v>
                  </c:pt>
                  <c:pt idx="1">
                    <c:v>1200</c:v>
                  </c:pt>
                  <c:pt idx="2">
                    <c:v>1800</c:v>
                  </c:pt>
                  <c:pt idx="3">
                    <c:v>2400</c:v>
                  </c:pt>
                  <c:pt idx="4">
                    <c:v>3000</c:v>
                  </c:pt>
                  <c:pt idx="5">
                    <c:v>3600</c:v>
                  </c:pt>
                  <c:pt idx="6">
                    <c:v>4200</c:v>
                  </c:pt>
                  <c:pt idx="7">
                    <c:v>4800</c:v>
                  </c:pt>
                  <c:pt idx="8">
                    <c:v>5400</c:v>
                  </c:pt>
                  <c:pt idx="9">
                    <c:v>6000</c:v>
                  </c:pt>
                </c:lvl>
              </c:multiLvlStrCache>
            </c:multiLvlStrRef>
          </c:cat>
          <c:val>
            <c:numRef>
              <c:f>Sheet1!$D$2:$D$11</c:f>
              <c:numCache>
                <c:formatCode>General</c:formatCode>
                <c:ptCount val="10"/>
                <c:pt idx="0">
                  <c:v>155</c:v>
                </c:pt>
                <c:pt idx="1">
                  <c:v>276</c:v>
                </c:pt>
                <c:pt idx="2">
                  <c:v>396</c:v>
                </c:pt>
                <c:pt idx="3">
                  <c:v>513</c:v>
                </c:pt>
                <c:pt idx="4">
                  <c:v>633</c:v>
                </c:pt>
                <c:pt idx="5">
                  <c:v>752</c:v>
                </c:pt>
                <c:pt idx="6">
                  <c:v>869</c:v>
                </c:pt>
                <c:pt idx="7">
                  <c:v>979</c:v>
                </c:pt>
                <c:pt idx="8">
                  <c:v>1094</c:v>
                </c:pt>
                <c:pt idx="9">
                  <c:v>1206</c:v>
                </c:pt>
              </c:numCache>
            </c:numRef>
          </c:val>
          <c:smooth val="0"/>
        </c:ser>
        <c:ser>
          <c:idx val="3"/>
          <c:order val="3"/>
          <c:tx>
            <c:strRef>
              <c:f>Sheet1!$E$1</c:f>
              <c:strCache>
                <c:ptCount val="1"/>
                <c:pt idx="0">
                  <c:v>DQN</c:v>
                </c:pt>
              </c:strCache>
            </c:strRef>
          </c:tx>
          <c:spPr>
            <a:solidFill>
              <a:srgbClr val="D1495B"/>
            </a:solidFill>
            <a:ln w="28575" cap="flat">
              <a:solidFill>
                <a:srgbClr val="D149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1495B"/>
              </a:solidFill>
              <a:ln w="9525" cap="flat">
                <a:solidFill>
                  <a:srgbClr val="D1495B"/>
                </a:solidFill>
                <a:prstDash val="solid"/>
                <a:round/>
              </a:ln>
              <a:effectLst/>
            </c:spPr>
          </c:marker>
          <c:cat>
            <c:multiLvlStrRef>
              <c:f>Sheet1!$A$2:$A$11</c:f>
              <c:multiLvlStrCache>
                <c:ptCount val="10"/>
                <c:lvl>
                  <c:pt idx="0">
                    <c:v>600</c:v>
                  </c:pt>
                  <c:pt idx="1">
                    <c:v>1200</c:v>
                  </c:pt>
                  <c:pt idx="2">
                    <c:v>1800</c:v>
                  </c:pt>
                  <c:pt idx="3">
                    <c:v>2400</c:v>
                  </c:pt>
                  <c:pt idx="4">
                    <c:v>3000</c:v>
                  </c:pt>
                  <c:pt idx="5">
                    <c:v>3600</c:v>
                  </c:pt>
                  <c:pt idx="6">
                    <c:v>4200</c:v>
                  </c:pt>
                  <c:pt idx="7">
                    <c:v>4800</c:v>
                  </c:pt>
                  <c:pt idx="8">
                    <c:v>5400</c:v>
                  </c:pt>
                  <c:pt idx="9">
                    <c:v>6000</c:v>
                  </c:pt>
                </c:lvl>
              </c:multiLvlStrCache>
            </c:multiLvlStrRef>
          </c:cat>
          <c:val>
            <c:numRef>
              <c:f>Sheet1!$E$2:$E$11</c:f>
              <c:numCache>
                <c:formatCode>General</c:formatCode>
                <c:ptCount val="10"/>
                <c:pt idx="0">
                  <c:v>1534</c:v>
                </c:pt>
                <c:pt idx="1">
                  <c:v>2669</c:v>
                </c:pt>
                <c:pt idx="2">
                  <c:v>3470</c:v>
                </c:pt>
                <c:pt idx="3">
                  <c:v>3873</c:v>
                </c:pt>
                <c:pt idx="4">
                  <c:v>4010</c:v>
                </c:pt>
                <c:pt idx="5">
                  <c:v>4142</c:v>
                </c:pt>
                <c:pt idx="6">
                  <c:v>4271</c:v>
                </c:pt>
                <c:pt idx="7">
                  <c:v>4391</c:v>
                </c:pt>
                <c:pt idx="8">
                  <c:v>4516</c:v>
                </c:pt>
                <c:pt idx="9">
                  <c:v>4652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800" b="0" i="0" u="none" strike="noStrike">
                    <a:solidFill>
                      <a:srgbClr val="5B6472"/>
                    </a:solidFill>
                    <a:latin typeface="Arial"/>
                  </a:defRPr>
                </a:pPr>
                <a:r>
                  <a:rPr sz="800" b="0" i="0" u="none" strike="noStrike">
                    <a:solidFill>
                      <a:srgbClr val="5B6472"/>
                    </a:solidFill>
                    <a:latin typeface="Arial"/>
                  </a:rPr>
                  <a:t>Tasks seen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B2A3A"/>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3A"/>
                </a:solidFill>
                <a:latin typeface="Calibri"/>
              </a:defRPr>
            </a:pPr>
            <a:r>
              <a:rPr sz="1100" b="0" i="0" u="none" strike="noStrike">
                <a:solidFill>
                  <a:srgbClr val="1B2A3A"/>
                </a:solidFill>
                <a:latin typeface="Calibri"/>
              </a:rPr>
              <a:t>LinUCB mode choice by channel SNR (dB)</a:t>
            </a:r>
          </a:p>
        </c:rich>
      </c:tx>
      <c:layout/>
      <c:overlay val="0"/>
    </c:title>
    <c:autoTitleDeleted val="0"/>
    <c:plotArea>
      <c:layout/>
      <c:barChart>
        <c:barDir val="col"/>
        <c:grouping val="percentStacked"/>
        <c:varyColors val="0"/>
        <c:ser>
          <c:idx val="0"/>
          <c:order val="0"/>
          <c:tx>
            <c:strRef>
              <c:f>Sheet1!$B$1</c:f>
              <c:strCache>
                <c:ptCount val="1"/>
                <c:pt idx="0">
                  <c:v>bit</c:v>
                </c:pt>
              </c:strCache>
            </c:strRef>
          </c:tx>
          <c:spPr>
            <a:solidFill>
              <a:srgbClr val="1F3A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-5–0</c:v>
                  </c:pt>
                  <c:pt idx="1">
                    <c:v>0–5</c:v>
                  </c:pt>
                  <c:pt idx="2">
                    <c:v>5–10</c:v>
                  </c:pt>
                  <c:pt idx="3">
                    <c:v>10–15</c:v>
                  </c:pt>
                  <c:pt idx="4">
                    <c:v>15–20</c:v>
                  </c:pt>
                  <c:pt idx="5">
                    <c:v>20–25</c:v>
                  </c:pt>
                  <c:pt idx="6">
                    <c:v>25–30</c:v>
                  </c:pt>
                </c:lvl>
              </c:multiLvlStrCache>
            </c:multiLvlStrRef>
          </c:cat>
          <c:val>
            <c:numRef>
              <c:f>Sheet1!$B$2:$B$8</c:f>
              <c:numCache>
                <c:formatCode>General</c:formatCode>
                <c:ptCount val="7"/>
                <c:pt idx="0">
                  <c:v>42</c:v>
                </c:pt>
                <c:pt idx="1">
                  <c:v>93</c:v>
                </c:pt>
                <c:pt idx="2">
                  <c:v>96</c:v>
                </c:pt>
                <c:pt idx="3">
                  <c:v>95</c:v>
                </c:pt>
                <c:pt idx="4">
                  <c:v>93</c:v>
                </c:pt>
                <c:pt idx="5">
                  <c:v>85</c:v>
                </c:pt>
                <c:pt idx="6">
                  <c:v>80</c:v>
                </c:pt>
              </c:numCache>
            </c:numRef>
          </c:val>
        </c:ser>
        <c:ser>
          <c:idx val="1"/>
          <c:order val="1"/>
          <c:tx>
            <c:strRef>
              <c:f>Sheet1!$C$1</c:f>
              <c:strCache>
                <c:ptCount val="1"/>
                <c:pt idx="0">
                  <c:v>semantic</c:v>
                </c:pt>
              </c:strCache>
            </c:strRef>
          </c:tx>
          <c:spPr>
            <a:solidFill>
              <a:srgbClr val="E0A45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-5–0</c:v>
                  </c:pt>
                  <c:pt idx="1">
                    <c:v>0–5</c:v>
                  </c:pt>
                  <c:pt idx="2">
                    <c:v>5–10</c:v>
                  </c:pt>
                  <c:pt idx="3">
                    <c:v>10–15</c:v>
                  </c:pt>
                  <c:pt idx="4">
                    <c:v>15–20</c:v>
                  </c:pt>
                  <c:pt idx="5">
                    <c:v>20–25</c:v>
                  </c:pt>
                  <c:pt idx="6">
                    <c:v>25–30</c:v>
                  </c:pt>
                </c:lvl>
              </c:multiLvlStrCache>
            </c:multiLvlStrRef>
          </c:cat>
          <c:val>
            <c:numRef>
              <c:f>Sheet1!$C$2:$C$8</c:f>
              <c:numCache>
                <c:formatCode>General</c:formatCode>
                <c:ptCount val="7"/>
                <c:pt idx="0">
                  <c:v>5</c:v>
                </c:pt>
                <c:pt idx="1">
                  <c:v>3</c:v>
                </c:pt>
                <c:pt idx="2">
                  <c:v>2</c:v>
                </c:pt>
                <c:pt idx="3">
                  <c:v>0</c:v>
                </c:pt>
                <c:pt idx="4">
                  <c:v>0</c:v>
                </c:pt>
                <c:pt idx="5">
                  <c:v>0</c:v>
                </c:pt>
                <c:pt idx="6">
                  <c:v>0</c:v>
                </c:pt>
              </c:numCache>
            </c:numRef>
          </c:val>
        </c:ser>
        <c:ser>
          <c:idx val="2"/>
          <c:order val="2"/>
          <c:tx>
            <c:strRef>
              <c:f>Sheet1!$D$1</c:f>
              <c:strCache>
                <c:ptCount val="1"/>
                <c:pt idx="0">
                  <c:v>compressed</c:v>
                </c:pt>
              </c:strCache>
            </c:strRef>
          </c:tx>
          <c:spPr>
            <a:solidFill>
              <a:srgbClr val="0E7C7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-5–0</c:v>
                  </c:pt>
                  <c:pt idx="1">
                    <c:v>0–5</c:v>
                  </c:pt>
                  <c:pt idx="2">
                    <c:v>5–10</c:v>
                  </c:pt>
                  <c:pt idx="3">
                    <c:v>10–15</c:v>
                  </c:pt>
                  <c:pt idx="4">
                    <c:v>15–20</c:v>
                  </c:pt>
                  <c:pt idx="5">
                    <c:v>20–25</c:v>
                  </c:pt>
                  <c:pt idx="6">
                    <c:v>25–30</c:v>
                  </c:pt>
                </c:lvl>
              </c:multiLvlStrCache>
            </c:multiLvlStrRef>
          </c:cat>
          <c:val>
            <c:numRef>
              <c:f>Sheet1!$D$2:$D$8</c:f>
              <c:numCache>
                <c:formatCode>General</c:formatCode>
                <c:ptCount val="7"/>
                <c:pt idx="0">
                  <c:v>53</c:v>
                </c:pt>
                <c:pt idx="1">
                  <c:v>4</c:v>
                </c:pt>
                <c:pt idx="2">
                  <c:v>2</c:v>
                </c:pt>
                <c:pt idx="3">
                  <c:v>4</c:v>
                </c:pt>
                <c:pt idx="4">
                  <c:v>7</c:v>
                </c:pt>
                <c:pt idx="5">
                  <c:v>15</c:v>
                </c:pt>
                <c:pt idx="6">
                  <c:v>20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B2A3A"/>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3A"/>
                </a:solidFill>
                <a:latin typeface="Calibri"/>
              </a:defRPr>
            </a:pPr>
            <a:r>
              <a:rPr sz="1100" b="0" i="0" u="none" strike="noStrike">
                <a:solidFill>
                  <a:srgbClr val="1B2A3A"/>
                </a:solidFill>
                <a:latin typeface="Calibri"/>
              </a:rPr>
              <a:t>Context ablation (LinUCB reward)</a:t>
            </a:r>
          </a:p>
        </c:rich>
      </c:tx>
      <c:layout/>
      <c:overlay val="0"/>
    </c:title>
    <c:autoTitleDeleted val="0"/>
    <c:plotArea>
      <c:layout/>
      <c:barChart>
        <c:barDir val="bar"/>
        <c:grouping val="clustered"/>
        <c:varyColors val="0"/>
        <c:ser>
          <c:idx val="0"/>
          <c:order val="0"/>
          <c:tx>
            <c:strRef>
              <c:f>Sheet1!$B$1</c:f>
              <c:strCache>
                <c:ptCount val="1"/>
                <c:pt idx="0">
                  <c:v>Average reward</c:v>
                </c:pt>
              </c:strCache>
            </c:strRef>
          </c:tx>
          <c:spPr>
            <a:solidFill>
              <a:srgbClr val="0E7C7B"/>
            </a:solidFill>
            <a:effectLst/>
          </c:spPr>
          <c:invertIfNegative val="0"/>
          <c:dLbls>
            <c:numFmt formatCode="0.00" sourceLinked="0"/>
            <c:txPr>
              <a:bodyPr/>
              <a:lstStyle/>
              <a:p>
                <a:pPr>
                  <a:defRPr b="0" i="0" strike="noStrike" sz="900" u="none">
                    <a:solidFill>
                      <a:srgbClr val="1B2A3A"/>
                    </a:solidFill>
                    <a:latin typeface="Arial"/>
                  </a:defRPr>
                </a:pPr>
              </a:p>
            </c:txPr>
            <c:showLegendKey val="0"/>
            <c:showVal val="1"/>
            <c:showCatName val="0"/>
            <c:showSerName val="0"/>
            <c:showPercent val="0"/>
            <c:showBubbleSize val="0"/>
            <c:showLeaderLines val="0"/>
          </c:dLbls>
          <c:dPt>
            <c:idx val="0"/>
            <c:invertIfNegative val="0"/>
            <c:bubble3D val="0"/>
            <c:spPr>
              <a:solidFill>
                <a:srgbClr val="0E7C7B"/>
              </a:solidFill>
              <a:effectLst/>
            </c:spPr>
          </c:dPt>
          <c:dPt>
            <c:idx val="1"/>
            <c:invertIfNegative val="0"/>
            <c:bubble3D val="0"/>
            <c:spPr>
              <a:solidFill>
                <a:srgbClr val="B8C4CE"/>
              </a:solidFill>
              <a:effectLst/>
            </c:spPr>
          </c:dPt>
          <c:dPt>
            <c:idx val="2"/>
            <c:invertIfNegative val="0"/>
            <c:bubble3D val="0"/>
            <c:spPr>
              <a:solidFill>
                <a:srgbClr val="B8C4CE"/>
              </a:solidFill>
              <a:effectLst/>
            </c:spPr>
          </c:dPt>
          <c:dPt>
            <c:idx val="3"/>
            <c:invertIfNegative val="0"/>
            <c:bubble3D val="0"/>
            <c:spPr>
              <a:solidFill>
                <a:srgbClr val="B8C4CE"/>
              </a:solidFill>
              <a:effectLst/>
            </c:spPr>
          </c:dPt>
          <c:dPt>
            <c:idx val="4"/>
            <c:invertIfNegative val="0"/>
            <c:bubble3D val="0"/>
            <c:spPr>
              <a:solidFill>
                <a:srgbClr val="B8C4CE"/>
              </a:solidFill>
              <a:effectLst/>
            </c:spPr>
          </c:dPt>
          <c:dPt>
            <c:idx val="5"/>
            <c:invertIfNegative val="0"/>
            <c:bubble3D val="0"/>
            <c:spPr>
              <a:solidFill>
                <a:srgbClr val="B8C4CE"/>
              </a:solidFill>
              <a:effectLst/>
            </c:spPr>
          </c:dPt>
          <c:dPt>
            <c:idx val="6"/>
            <c:invertIfNegative val="0"/>
            <c:bubble3D val="0"/>
            <c:spPr>
              <a:solidFill>
                <a:srgbClr val="B8C4CE"/>
              </a:solidFill>
              <a:effectLst/>
            </c:spPr>
          </c:dPt>
          <c:dPt>
            <c:idx val="7"/>
            <c:invertIfNegative val="0"/>
            <c:bubble3D val="0"/>
            <c:spPr>
              <a:solidFill>
                <a:srgbClr val="B8C4CE"/>
              </a:solidFill>
              <a:effectLst/>
            </c:spPr>
          </c:dPt>
          <c:cat>
            <c:multiLvlStrRef>
              <c:f>Sheet1!$A$2:$A$9</c:f>
              <c:multiLvlStrCache>
                <c:ptCount val="8"/>
                <c:lvl>
                  <c:pt idx="0">
                    <c:v>Full context</c:v>
                  </c:pt>
                  <c:pt idx="1">
                    <c:v>No urgency</c:v>
                  </c:pt>
                  <c:pt idx="2">
                    <c:v>No delay budget</c:v>
                  </c:pt>
                  <c:pt idx="3">
                    <c:v>No urgency AND no delay budget</c:v>
                  </c:pt>
                  <c:pt idx="4">
                    <c:v>No channel info</c:v>
                  </c:pt>
                  <c:pt idx="5">
                    <c:v>No quality requirement</c:v>
                  </c:pt>
                  <c:pt idx="6">
                    <c:v>Raw features only</c:v>
                  </c:pt>
                  <c:pt idx="7">
                    <c:v>No context</c:v>
                  </c:pt>
                </c:lvl>
              </c:multiLvlStrCache>
            </c:multiLvlStrRef>
          </c:cat>
          <c:val>
            <c:numRef>
              <c:f>Sheet1!$B$2:$B$9</c:f>
              <c:numCache>
                <c:formatCode>General</c:formatCode>
                <c:ptCount val="8"/>
                <c:pt idx="0">
                  <c:v>0.507</c:v>
                </c:pt>
                <c:pt idx="1">
                  <c:v>0.528</c:v>
                </c:pt>
                <c:pt idx="2">
                  <c:v>0.522</c:v>
                </c:pt>
                <c:pt idx="3">
                  <c:v>0.453</c:v>
                </c:pt>
                <c:pt idx="4">
                  <c:v>0.437</c:v>
                </c:pt>
                <c:pt idx="5">
                  <c:v>0.431</c:v>
                </c:pt>
                <c:pt idx="6">
                  <c:v>0.439</c:v>
                </c:pt>
                <c:pt idx="7">
                  <c:v>0.422</c:v>
                </c:pt>
              </c:numCache>
            </c:numRef>
          </c:val>
        </c:ser>
        <c:dLbls>
          <c:numFmt formatCode="0.00" sourceLinked="0"/>
          <c:txPr>
            <a:bodyPr/>
            <a:lstStyle/>
            <a:p>
              <a:pPr>
                <a:defRPr b="0" i="0" strike="noStrike" sz="900" u="none">
                  <a:solidFill>
                    <a:srgbClr val="1B2A3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B2A3A"/>
                </a:solidFill>
                <a:latin typeface="Arial"/>
              </a:defRPr>
            </a:pPr>
            <a:endParaRPr lang="en-US"/>
          </a:p>
        </c:txPr>
        <c:crossAx val="2094734552"/>
        <c:crosses val="autoZero"/>
        <c:auto val="1"/>
        <c:lblAlgn val="ctr"/>
        <c:noMultiLvlLbl val="1"/>
      </c:catAx>
      <c:valAx>
        <c:axId val="2094734552"/>
        <c:scaling>
          <c:orientation val="minMax"/>
          <c:max val="0.65"/>
          <c:min val="0.3"/>
        </c:scaling>
        <c:delete val="0"/>
        <c:axPos val="b"/>
        <c:majorGridlines>
          <c:spPr>
            <a:ln w="6350" cap="flat">
              <a:solidFill>
                <a:srgbClr val="E2E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3A"/>
                </a:solidFill>
                <a:latin typeface="Calibri"/>
              </a:defRPr>
            </a:pPr>
            <a:r>
              <a:rPr sz="1100" b="0" i="0" u="none" strike="noStrike">
                <a:solidFill>
                  <a:srgbClr val="1B2A3A"/>
                </a:solidFill>
                <a:latin typeface="Calibri"/>
              </a:rPr>
              <a:t>Reward vs energy weight in the reward</a:t>
            </a:r>
          </a:p>
        </c:rich>
      </c:tx>
      <c:layout/>
      <c:overlay val="0"/>
    </c:title>
    <c:autoTitleDeleted val="0"/>
    <c:plotArea>
      <c:layout/>
      <c:lineChart>
        <c:varyColors val="0"/>
        <c:ser>
          <c:idx val="0"/>
          <c:order val="0"/>
          <c:tx>
            <c:strRef>
              <c:f>Sheet1!$B$1</c:f>
              <c:strCache>
                <c:ptCount val="1"/>
                <c:pt idx="0">
                  <c:v>Oracle</c:v>
                </c:pt>
              </c:strCache>
            </c:strRef>
          </c:tx>
          <c:spPr>
            <a:solidFill>
              <a:srgbClr val="222222"/>
            </a:solidFill>
            <a:ln w="31750" cap="flat">
              <a:solidFill>
                <a:srgbClr val="22222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22222"/>
              </a:solidFill>
              <a:ln w="9525" cap="flat">
                <a:solidFill>
                  <a:srgbClr val="222222"/>
                </a:solidFill>
                <a:prstDash val="solid"/>
                <a:round/>
              </a:ln>
              <a:effectLst/>
            </c:spPr>
          </c:marker>
          <c:cat>
            <c:multiLvlStrRef>
              <c:f>Sheet1!$A$2:$A$6</c:f>
              <c:multiLvlStrCache>
                <c:ptCount val="5"/>
                <c:lvl>
                  <c:pt idx="0">
                    <c:v>0.5</c:v>
                  </c:pt>
                  <c:pt idx="1">
                    <c:v>1.0</c:v>
                  </c:pt>
                  <c:pt idx="2">
                    <c:v>2.0</c:v>
                  </c:pt>
                  <c:pt idx="3">
                    <c:v>3.0</c:v>
                  </c:pt>
                  <c:pt idx="4">
                    <c:v>4.0</c:v>
                  </c:pt>
                </c:lvl>
              </c:multiLvlStrCache>
            </c:multiLvlStrRef>
          </c:cat>
          <c:val>
            <c:numRef>
              <c:f>Sheet1!$B$2:$B$6</c:f>
              <c:numCache>
                <c:formatCode>General</c:formatCode>
                <c:ptCount val="5"/>
                <c:pt idx="0">
                  <c:v>1.929</c:v>
                </c:pt>
                <c:pt idx="1">
                  <c:v>1.489</c:v>
                </c:pt>
                <c:pt idx="2">
                  <c:v>0.688</c:v>
                </c:pt>
                <c:pt idx="3">
                  <c:v>-0.086</c:v>
                </c:pt>
                <c:pt idx="4">
                  <c:v>-0.833</c:v>
                </c:pt>
              </c:numCache>
            </c:numRef>
          </c:val>
          <c:smooth val="0"/>
        </c:ser>
        <c:ser>
          <c:idx val="1"/>
          <c:order val="1"/>
          <c:tx>
            <c:strRef>
              <c:f>Sheet1!$C$1</c:f>
              <c:strCache>
                <c:ptCount val="1"/>
                <c:pt idx="0">
                  <c:v>LinUCB</c:v>
                </c:pt>
              </c:strCache>
            </c:strRef>
          </c:tx>
          <c:spPr>
            <a:solidFill>
              <a:srgbClr val="0E7C7B"/>
            </a:solidFill>
            <a:ln w="31750"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7C7B"/>
              </a:solidFill>
              <a:ln w="9525" cap="flat">
                <a:solidFill>
                  <a:srgbClr val="0E7C7B"/>
                </a:solidFill>
                <a:prstDash val="solid"/>
                <a:round/>
              </a:ln>
              <a:effectLst/>
            </c:spPr>
          </c:marker>
          <c:cat>
            <c:multiLvlStrRef>
              <c:f>Sheet1!$A$2:$A$6</c:f>
              <c:multiLvlStrCache>
                <c:ptCount val="5"/>
                <c:lvl>
                  <c:pt idx="0">
                    <c:v>0.5</c:v>
                  </c:pt>
                  <c:pt idx="1">
                    <c:v>1.0</c:v>
                  </c:pt>
                  <c:pt idx="2">
                    <c:v>2.0</c:v>
                  </c:pt>
                  <c:pt idx="3">
                    <c:v>3.0</c:v>
                  </c:pt>
                  <c:pt idx="4">
                    <c:v>4.0</c:v>
                  </c:pt>
                </c:lvl>
              </c:multiLvlStrCache>
            </c:multiLvlStrRef>
          </c:cat>
          <c:val>
            <c:numRef>
              <c:f>Sheet1!$C$2:$C$6</c:f>
              <c:numCache>
                <c:formatCode>General</c:formatCode>
                <c:ptCount val="5"/>
                <c:pt idx="0">
                  <c:v>1.928</c:v>
                </c:pt>
                <c:pt idx="1">
                  <c:v>1.441</c:v>
                </c:pt>
                <c:pt idx="2">
                  <c:v>0.512</c:v>
                </c:pt>
                <c:pt idx="3">
                  <c:v>-0.438</c:v>
                </c:pt>
                <c:pt idx="4">
                  <c:v>-1.274</c:v>
                </c:pt>
              </c:numCache>
            </c:numRef>
          </c:val>
          <c:smooth val="0"/>
        </c:ser>
        <c:ser>
          <c:idx val="2"/>
          <c:order val="2"/>
          <c:tx>
            <c:strRef>
              <c:f>Sheet1!$D$1</c:f>
              <c:strCache>
                <c:ptCount val="1"/>
                <c:pt idx="0">
                  <c:v>Always bit</c:v>
                </c:pt>
              </c:strCache>
            </c:strRef>
          </c:tx>
          <c:spPr>
            <a:solidFill>
              <a:srgbClr val="7A8B99"/>
            </a:solidFill>
            <a:ln w="31750" cap="flat">
              <a:solidFill>
                <a:srgbClr val="7A8B9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A8B99"/>
              </a:solidFill>
              <a:ln w="9525" cap="flat">
                <a:solidFill>
                  <a:srgbClr val="7A8B99"/>
                </a:solidFill>
                <a:prstDash val="solid"/>
                <a:round/>
              </a:ln>
              <a:effectLst/>
            </c:spPr>
          </c:marker>
          <c:cat>
            <c:multiLvlStrRef>
              <c:f>Sheet1!$A$2:$A$6</c:f>
              <c:multiLvlStrCache>
                <c:ptCount val="5"/>
                <c:lvl>
                  <c:pt idx="0">
                    <c:v>0.5</c:v>
                  </c:pt>
                  <c:pt idx="1">
                    <c:v>1.0</c:v>
                  </c:pt>
                  <c:pt idx="2">
                    <c:v>2.0</c:v>
                  </c:pt>
                  <c:pt idx="3">
                    <c:v>3.0</c:v>
                  </c:pt>
                  <c:pt idx="4">
                    <c:v>4.0</c:v>
                  </c:pt>
                </c:lvl>
              </c:multiLvlStrCache>
            </c:multiLvlStrRef>
          </c:cat>
          <c:val>
            <c:numRef>
              <c:f>Sheet1!$D$2:$D$6</c:f>
              <c:numCache>
                <c:formatCode>General</c:formatCode>
                <c:ptCount val="5"/>
                <c:pt idx="0">
                  <c:v>1.899</c:v>
                </c:pt>
                <c:pt idx="1">
                  <c:v>1.399</c:v>
                </c:pt>
                <c:pt idx="2">
                  <c:v>0.399</c:v>
                </c:pt>
                <c:pt idx="3">
                  <c:v>-0.601</c:v>
                </c:pt>
                <c:pt idx="4">
                  <c:v>-1.601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472"/>
                    </a:solidFill>
                    <a:latin typeface="Arial"/>
                  </a:defRPr>
                </a:pPr>
                <a:r>
                  <a:rPr sz="900" b="0" i="0" u="none" strike="noStrike">
                    <a:solidFill>
                      <a:srgbClr val="5B6472"/>
                    </a:solidFill>
                    <a:latin typeface="Arial"/>
                  </a:rPr>
                  <a:t>Energy weight (higher = scarcer energy)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B2A3A"/>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3A"/>
                </a:solidFill>
                <a:latin typeface="Calibri"/>
              </a:defRPr>
            </a:pPr>
            <a:r>
              <a:rPr sz="1100" b="0" i="0" u="none" strike="noStrike">
                <a:solidFill>
                  <a:srgbClr val="1B2A3A"/>
                </a:solidFill>
                <a:latin typeface="Calibri"/>
              </a:rPr>
              <a:t>Battery-limited setting: reward after learning</a:t>
            </a:r>
          </a:p>
        </c:rich>
      </c:tx>
      <c:layout/>
      <c:overlay val="0"/>
    </c:title>
    <c:autoTitleDeleted val="0"/>
    <c:plotArea>
      <c:layout/>
      <c:barChart>
        <c:barDir val="col"/>
        <c:grouping val="clustered"/>
        <c:varyColors val="0"/>
        <c:ser>
          <c:idx val="0"/>
          <c:order val="0"/>
          <c:tx>
            <c:strRef>
              <c:f>Sheet1!$B$1</c:f>
              <c:strCache>
                <c:ptCount val="1"/>
                <c:pt idx="0">
                  <c:v>Reward</c:v>
                </c:pt>
              </c:strCache>
            </c:strRef>
          </c:tx>
          <c:spPr>
            <a:solidFill>
              <a:srgbClr val="7A8B99"/>
            </a:solidFill>
            <a:effectLst/>
          </c:spPr>
          <c:invertIfNegative val="0"/>
          <c:dLbls>
            <c:numFmt formatCode="0.00" sourceLinked="0"/>
            <c:txPr>
              <a:bodyPr/>
              <a:lstStyle/>
              <a:p>
                <a:pPr>
                  <a:defRPr b="0" i="0" strike="noStrike" sz="900" u="none">
                    <a:solidFill>
                      <a:srgbClr val="1B2A3A"/>
                    </a:solidFill>
                    <a:latin typeface="Arial"/>
                  </a:defRPr>
                </a:pPr>
              </a:p>
            </c:txPr>
            <c:showLegendKey val="0"/>
            <c:showVal val="1"/>
            <c:showCatName val="0"/>
            <c:showSerName val="0"/>
            <c:showPercent val="0"/>
            <c:showBubbleSize val="0"/>
            <c:showLeaderLines val="0"/>
          </c:dLbls>
          <c:dPt>
            <c:idx val="0"/>
            <c:invertIfNegative val="0"/>
            <c:bubble3D val="0"/>
            <c:spPr>
              <a:solidFill>
                <a:srgbClr val="7A8B99"/>
              </a:solidFill>
              <a:effectLst/>
            </c:spPr>
          </c:dPt>
          <c:dPt>
            <c:idx val="1"/>
            <c:invertIfNegative val="0"/>
            <c:bubble3D val="0"/>
            <c:spPr>
              <a:solidFill>
                <a:srgbClr val="C08A4E"/>
              </a:solidFill>
              <a:effectLst/>
            </c:spPr>
          </c:dPt>
          <c:dPt>
            <c:idx val="2"/>
            <c:invertIfNegative val="0"/>
            <c:bubble3D val="0"/>
            <c:spPr>
              <a:solidFill>
                <a:srgbClr val="0E7C7B"/>
              </a:solidFill>
              <a:effectLst/>
            </c:spPr>
          </c:dPt>
          <c:dPt>
            <c:idx val="3"/>
            <c:invertIfNegative val="0"/>
            <c:bubble3D val="0"/>
            <c:spPr>
              <a:solidFill>
                <a:srgbClr val="17BEBB"/>
              </a:solidFill>
              <a:effectLst/>
            </c:spPr>
          </c:dPt>
          <c:dPt>
            <c:idx val="4"/>
            <c:invertIfNegative val="0"/>
            <c:bubble3D val="0"/>
            <c:spPr>
              <a:solidFill>
                <a:srgbClr val="D1495B"/>
              </a:solidFill>
              <a:effectLst/>
            </c:spPr>
          </c:dPt>
          <c:cat>
            <c:multiLvlStrRef>
              <c:f>Sheet1!$A$2:$A$6</c:f>
              <c:multiLvlStrCache>
                <c:ptCount val="5"/>
                <c:lvl>
                  <c:pt idx="0">
                    <c:v>Always bit</c:v>
                  </c:pt>
                  <c:pt idx="1">
                    <c:v>Threshold</c:v>
                  </c:pt>
                  <c:pt idx="2">
                    <c:v>LinUCB</c:v>
                  </c:pt>
                  <c:pt idx="3">
                    <c:v>Thompson</c:v>
                  </c:pt>
                  <c:pt idx="4">
                    <c:v>DQN</c:v>
                  </c:pt>
                </c:lvl>
              </c:multiLvlStrCache>
            </c:multiLvlStrRef>
          </c:cat>
          <c:val>
            <c:numRef>
              <c:f>Sheet1!$B$2:$B$6</c:f>
              <c:numCache>
                <c:formatCode>General</c:formatCode>
                <c:ptCount val="5"/>
                <c:pt idx="0">
                  <c:v>-1.669</c:v>
                </c:pt>
                <c:pt idx="1">
                  <c:v>-1.978</c:v>
                </c:pt>
                <c:pt idx="2">
                  <c:v>-1.624</c:v>
                </c:pt>
                <c:pt idx="3">
                  <c:v>-1.64</c:v>
                </c:pt>
                <c:pt idx="4">
                  <c:v>-1.047</c:v>
                </c:pt>
              </c:numCache>
            </c:numRef>
          </c:val>
        </c:ser>
        <c:dLbls>
          <c:numFmt formatCode="0.00" sourceLinked="0"/>
          <c:txPr>
            <a:bodyPr/>
            <a:lstStyle/>
            <a:p>
              <a:pPr>
                <a:defRPr b="0" i="0" strike="noStrike" sz="900" u="none">
                  <a:solidFill>
                    <a:srgbClr val="1B2A3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A3A"/>
                </a:solidFill>
                <a:latin typeface="Arial"/>
              </a:defRPr>
            </a:pPr>
            <a:endParaRPr lang="en-US"/>
          </a:p>
        </c:txPr>
        <c:crossAx val="2094734552"/>
        <c:crosses val="autoZero"/>
        <c:auto val="1"/>
        <c:lblAlgn val="ctr"/>
        <c:noMultiLvlLbl val="1"/>
      </c:catAx>
      <c:valAx>
        <c:axId val="2094734552"/>
        <c:scaling>
          <c:orientation val="minMax"/>
          <c:max val="0"/>
          <c:min val="-2.5"/>
        </c:scaling>
        <c:delete val="0"/>
        <c:axPos val="l"/>
        <c:majorGridlines>
          <c:spPr>
            <a:ln w="6350" cap="flat">
              <a:solidFill>
                <a:srgbClr val="E2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Introduce the team and the title. One sentence: 'A UAV must decide, for every message, whether to send exact bits, the semantic meaning, or a compressed semantic version. We built a system that learns this decision online, sends real text messages through it, and evaluated it against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Explain the three modes and why none dominates: bit is exact but costly and brittle; semantic is lighter but slower and lossy; compressed semantic is cheapest and most resilient but least accurate. The decision depends on channel, urgency, delay budget and quality requirement, and the reward is only observed after acting, which is why a bandit is the natural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Walk left to right: the agent sees a context vector, picks one of three modes, gets a reward, and updates. LinUCB adds an uncertainty bonus to its estimate; Thompson Sampling samples from a posterior; both are contextual bandits. DQN is included as a baseline that can also use sequential state such as battery. Point out the reward formula: success is worth +5, failure costs 3, then subtract urgency-weighted latency and energy. The energy weight of 2 represents a battery-limited UAV; the sensitivity study later varies it from 0.5 to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This is the working system. (1) The user types a message. (2) The analyzer reads it: control commands need near-perfect quality, sensor readings moderate, image descriptions least; words like URGENT or 'within 2 seconds' set urgency and deadline; it also extracts key units (numbers, commands, entities). (3) Together with the channel SNR these become context features. (4) The trained LinUCB policy estimates the reward of each mode and picks the best. (5) The message is sent: bit sends the exact bytes (all-or-nothing); semantic sends only key units; compressed semantic sends the most important 80 percent dictionary-coded. (6) The receiver's quality is the fraction of key units that arrived; success needs quality and deadline; the reward is computed. The table shows one message at four channel qualities: at 0 dB bit is a gamble that lost the packet; at 10 dB bit works; at 20 and 28 dB the policy switches to semantic, sending 63 instead of 76 bytes and saving energy at quality 0.78, above the 0.65 needed for image reports. IMPORTANT to say: the semantic codec here is a transparent rule-based stand-in, not a trained neural codec, and the channel is the same simulated model the policy was trained on. Offer to run send_message.py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2]. Be upfront that the simulator is synthetic: all numeric parameters are modelling assumptions we chose, not measurements. Explain why two settings: A tests the pure bandit formulation with independent tasks; B adds a battery budget so choices affect future options, which is where a sequential method like DQN could matter. Explain the oracle: for each task it picks the mode with the highest expected reward, so regret measures how much reward we lose by not knowing it. Hyper-parameters (alpha, v, epsilon, DQN learning rate and gamma) were chosen on three tuning seeds that are disjoint from the ten evaluation seeds. We also changed the default energy weight from 1 to 2 after noticing that at weight 1 the best fixed policy was already within 6% of the oracle; the sensitivity slide shows results from 0.5 to 4 so nothing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2]. Left: average reward: oracle 0.70, LinUCB 0.51, Thompson 0.50, always-bit 0.42. The hand-written threshold rule (-0.82) is WORSE than always-bit, which is an argument for learning; epsilon-greedy shows no significant gain (lower regret in 3 of 10 seeds). Right: regret is the reward lost versus the oracle, so flatter is better. LinUCB and Thompson flatten early; DQN loses a lot in its first thousand tasks. The gain is real but moderate: regret drops 27% (Thompson lower in 9/10 seeds, t = -2.80), success is unchanged, and the saving comes from spending less energy. The learners recover roughly 40 percent of the headroom between always-bit and the oracle. Bottom right: when we give DQN 20,000 tasks (3.3x more) its steady-state regret per task is 0.165 versus 0.185 for LinUCB and 0.270 for always-bit, so DQN needs about three times more data but then matches the bandits: its 0.02 lead over LinUCB is well inside LinUCB's seed-to-seed spread of about 0.06, so do not claim it is better. Its tuned discount is 0, meaning tuning found no benefit from looking ahead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Left chart: after learning, the policy shifts from bit at high SNR toward compressed semantic in weak channels, matching the oracle's pattern. It agrees with the oracle on 77% of tasks versus 65% for always choosing bit. Right chart: we removed one feature group at a time. Channel information and the quality requirement matter most, and urgency plus delay budget matter together. The 'no context' bandit converges to always-bit, and using only raw features (no engineered margin/slack features) also gives no gain, because success depends on threshold comparisons a linear model cannot form from raw inputs. Honest caveat: the engineered features use knowledge of the simulator's cost model, which a real deployment would have to estimate. Urgency and delay-budget features look useless individually because they are redundant (deadline is generated from urgency); removing both gives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Left: when energy is cheap (weight 0.5) always-bit is almost optimal and adaptation adds little; as energy becomes scarce the oracle pulls away and the learners recover roughly 40 percent of the gap. Right: with a battery budget of 100 units per 200 tasks, every policy runs out of energy; the myopic bandits (even when given battery as a feature) barely beat always-bit, while DQN is clearly best, and it is best at budgets 60, 100 and 140. This partly contradicts our proposal, which expected DQN to be only marginally better: when energy is budgeted, sequential state matters. But when we tested discount factors, gamma = 0 was best, so we cannot claim that planning ahead is what helps; it looks like the network's use of battery state with nonlinear decisions. That is a hypothesis we have not fully isolated (we did not try engineered battery features for LinUCB). Limits: 100 episodes, 5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all three members. State the outcome: the project is complete as scoped. Summarise the findings honestly: the gain over the best fixed policy is moderate (about 27 percent less regret, 40 percent of the available headroom); it grows when energy is scarce; with a battery budget DQN is best; and on our small set of 16 hand-written messages the learned policy is on par with always sending bits, not better, while using less energy. Limits to state proactively: the simulator is synthetic with assumed parameters; the semantic codec is a rule-based stand-in, not a trained neural codec; engineered features use knowledge of the cost model. Future work: a trained neural semantic codec and real channel traces. EACH MEMBER states their own contribution; EDIT THE THREE BOXES to reflect who actually did what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thanks the panel; all three answer questions. Offer to run send_message.py or run_demo.py live. Keep the Guide's Q&amp;A section handy.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F"/>
        </a:solidFill>
      </p:bgPr>
    </p:bg>
    <p:spTree>
      <p:nvGrpSpPr>
        <p:cNvPr id="1" name=""/>
        <p:cNvGrpSpPr/>
        <p:nvPr/>
      </p:nvGrpSpPr>
      <p:grpSpPr>
        <a:xfrm>
          <a:off x="0" y="0"/>
          <a:ext cx="0" cy="0"/>
          <a:chOff x="0" y="0"/>
          <a:chExt cx="0" cy="0"/>
        </a:xfrm>
      </p:grpSpPr>
      <p:sp>
        <p:nvSpPr>
          <p:cNvPr id="2" name="Text 0"/>
          <p:cNvSpPr txBox="1"/>
          <p:nvPr/>
        </p:nvSpPr>
        <p:spPr>
          <a:xfrm>
            <a:off x="822960" y="1097280"/>
            <a:ext cx="7498080" cy="17373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Contextual Bandit Hybrid Bit-Semantic Transmission Selection for UAVs</a:t>
            </a:r>
            <a:endParaRPr lang="en-US" sz="3800" dirty="0"/>
          </a:p>
        </p:txBody>
      </p:sp>
      <p:sp>
        <p:nvSpPr>
          <p:cNvPr id="3" name="Text 1"/>
          <p:cNvSpPr txBox="1"/>
          <p:nvPr/>
        </p:nvSpPr>
        <p:spPr>
          <a:xfrm>
            <a:off x="822960" y="3291840"/>
            <a:ext cx="7498080" cy="457200"/>
          </a:xfrm>
          <a:prstGeom prst="rect">
            <a:avLst/>
          </a:prstGeom>
          <a:noFill/>
          <a:ln/>
        </p:spPr>
        <p:txBody>
          <a:bodyPr wrap="square" lIns="0" tIns="0" rIns="0" bIns="0" rtlCol="0" anchor="ctr"/>
          <a:lstStyle/>
          <a:p>
            <a:pPr indent="0" marL="0">
              <a:buNone/>
            </a:pPr>
            <a:r>
              <a:rPr lang="en-US" sz="1800" dirty="0">
                <a:solidFill>
                  <a:srgbClr val="C9D6E2"/>
                </a:solidFill>
                <a:latin typeface="Calibri" pitchFamily="34" charset="0"/>
                <a:ea typeface="Calibri" pitchFamily="34" charset="-122"/>
                <a:cs typeface="Calibri" pitchFamily="34" charset="-120"/>
              </a:rPr>
              <a:t>Likhita Sri Chakiri   |   [Member 2]   |   [Member 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The problem: no single transmission mode is best</a:t>
            </a:r>
            <a:endParaRPr lang="en-US" sz="2600" dirty="0"/>
          </a:p>
        </p:txBody>
      </p:sp>
      <p:sp>
        <p:nvSpPr>
          <p:cNvPr id="3" name="Text 1"/>
          <p:cNvSpPr txBox="1"/>
          <p:nvPr/>
        </p:nvSpPr>
        <p:spPr>
          <a:xfrm>
            <a:off x="457200" y="1097280"/>
            <a:ext cx="4114800" cy="260604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B2A3A"/>
                </a:solidFill>
                <a:latin typeface="Calibri" pitchFamily="34" charset="0"/>
                <a:ea typeface="Calibri" pitchFamily="34" charset="-122"/>
                <a:cs typeface="Calibri" pitchFamily="34" charset="-120"/>
              </a:rPr>
              <a:t>UAV-to-ground links swing between clear and blocked line-of-sight within seconds.</a:t>
            </a:r>
            <a:endParaRPr lang="en-US" sz="1300" dirty="0"/>
          </a:p>
          <a:p>
            <a:pPr marL="177800" indent="-177800">
              <a:spcAft>
                <a:spcPts val="900"/>
              </a:spcAft>
              <a:buSzPct val="100000"/>
              <a:buChar char="•"/>
            </a:pPr>
            <a:r>
              <a:rPr lang="en-US" sz="1300" dirty="0">
                <a:solidFill>
                  <a:srgbClr val="1B2A3A"/>
                </a:solidFill>
                <a:latin typeface="Calibri" pitchFamily="34" charset="0"/>
                <a:ea typeface="Calibri" pitchFamily="34" charset="-122"/>
                <a:cs typeface="Calibri" pitchFamily="34" charset="-120"/>
              </a:rPr>
              <a:t>Battery and on-board compute are scarce, so wasted bits and wasted inference both cost.</a:t>
            </a:r>
            <a:endParaRPr lang="en-US" sz="1300" dirty="0"/>
          </a:p>
          <a:p>
            <a:pPr marL="177800" indent="-177800">
              <a:spcAft>
                <a:spcPts val="900"/>
              </a:spcAft>
              <a:buSzPct val="100000"/>
              <a:buChar char="•"/>
            </a:pPr>
            <a:r>
              <a:rPr lang="en-US" sz="1300" dirty="0">
                <a:solidFill>
                  <a:srgbClr val="1B2A3A"/>
                </a:solidFill>
                <a:latin typeface="Calibri" pitchFamily="34" charset="0"/>
                <a:ea typeface="Calibri" pitchFamily="34" charset="-122"/>
                <a:cs typeface="Calibri" pitchFamily="34" charset="-120"/>
              </a:rPr>
              <a:t>Tasks differ: urgent alerts vs routine imagery; exact control commands vs images that tolerate approximation.</a:t>
            </a:r>
            <a:endParaRPr lang="en-US" sz="1300" dirty="0"/>
          </a:p>
          <a:p>
            <a:pPr marL="177800" indent="-177800">
              <a:spcAft>
                <a:spcPts val="900"/>
              </a:spcAft>
              <a:buSzPct val="100000"/>
              <a:buChar char="•"/>
            </a:pPr>
            <a:r>
              <a:rPr lang="en-US" sz="1300" dirty="0">
                <a:solidFill>
                  <a:srgbClr val="1B2A3A"/>
                </a:solidFill>
                <a:latin typeface="Calibri" pitchFamily="34" charset="0"/>
                <a:ea typeface="Calibri" pitchFamily="34" charset="-122"/>
                <a:cs typeface="Calibri" pitchFamily="34" charset="-120"/>
              </a:rPr>
              <a:t>Static policies (always bit, always semantic) leave performance on the table.</a:t>
            </a:r>
            <a:endParaRPr lang="en-US" sz="1300" dirty="0"/>
          </a:p>
        </p:txBody>
      </p:sp>
      <p:sp>
        <p:nvSpPr>
          <p:cNvPr id="4" name="Shape 2"/>
          <p:cNvSpPr/>
          <p:nvPr/>
        </p:nvSpPr>
        <p:spPr>
          <a:xfrm>
            <a:off x="457200" y="3794760"/>
            <a:ext cx="4114800" cy="777240"/>
          </a:xfrm>
          <a:prstGeom prst="roundRect">
            <a:avLst>
              <a:gd name="adj" fmla="val 9412"/>
            </a:avLst>
          </a:prstGeom>
          <a:solidFill>
            <a:srgbClr val="D8EFEE"/>
          </a:solidFill>
          <a:ln w="12700">
            <a:solidFill>
              <a:srgbClr val="D8EFEE"/>
            </a:solidFill>
            <a:prstDash val="solid"/>
          </a:ln>
        </p:spPr>
      </p:sp>
      <p:sp>
        <p:nvSpPr>
          <p:cNvPr id="5" name="Text 3"/>
          <p:cNvSpPr txBox="1"/>
          <p:nvPr/>
        </p:nvSpPr>
        <p:spPr>
          <a:xfrm>
            <a:off x="594360" y="3840480"/>
            <a:ext cx="3840480" cy="68580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Decision problem: </a:t>
            </a:r>
            <a:pPr indent="0" marL="0">
              <a:buNone/>
            </a:pPr>
            <a:r>
              <a:rPr lang="en-US" sz="1200" dirty="0">
                <a:solidFill>
                  <a:srgbClr val="1B2A3A"/>
                </a:solidFill>
                <a:latin typeface="Calibri" pitchFamily="34" charset="0"/>
                <a:ea typeface="Calibri" pitchFamily="34" charset="-122"/>
                <a:cs typeface="Calibri" pitchFamily="34" charset="-120"/>
              </a:rPr>
              <a:t>4 context signals, 3 actions, reward known only after acting, so it must be learned online.</a:t>
            </a:r>
            <a:endParaRPr lang="en-US" sz="1200" dirty="0"/>
          </a:p>
        </p:txBody>
      </p:sp>
      <p:sp>
        <p:nvSpPr>
          <p:cNvPr id="6" name="Shape 4"/>
          <p:cNvSpPr/>
          <p:nvPr/>
        </p:nvSpPr>
        <p:spPr>
          <a:xfrm>
            <a:off x="4892040" y="1097280"/>
            <a:ext cx="3794760" cy="1005840"/>
          </a:xfrm>
          <a:prstGeom prst="roundRect">
            <a:avLst>
              <a:gd name="adj" fmla="val 7273"/>
            </a:avLst>
          </a:prstGeom>
          <a:solidFill>
            <a:srgbClr val="F3F6F9"/>
          </a:solidFill>
          <a:ln w="12700">
            <a:solidFill>
              <a:srgbClr val="F3F6F9"/>
            </a:solidFill>
            <a:prstDash val="solid"/>
          </a:ln>
        </p:spPr>
      </p:sp>
      <p:sp>
        <p:nvSpPr>
          <p:cNvPr id="7" name="Shape 5"/>
          <p:cNvSpPr/>
          <p:nvPr/>
        </p:nvSpPr>
        <p:spPr>
          <a:xfrm>
            <a:off x="5029200" y="1344168"/>
            <a:ext cx="502920" cy="502920"/>
          </a:xfrm>
          <a:prstGeom prst="ellipse">
            <a:avLst/>
          </a:prstGeom>
          <a:solidFill>
            <a:srgbClr val="0E7C7B"/>
          </a:solidFill>
          <a:ln w="12700">
            <a:solidFill>
              <a:srgbClr val="0E7C7B"/>
            </a:solidFill>
            <a:prstDash val="solid"/>
          </a:ln>
        </p:spPr>
      </p:sp>
      <p:pic>
        <p:nvPicPr>
          <p:cNvPr id="8" name="Image 0" descr="preencoded.png">    </p:cNvPr>
          <p:cNvPicPr>
            <a:picLocks noChangeAspect="1"/>
          </p:cNvPicPr>
          <p:nvPr/>
        </p:nvPicPr>
        <p:blipFill>
          <a:blip r:embed="rId1"/>
          <a:stretch>
            <a:fillRect/>
          </a:stretch>
        </p:blipFill>
        <p:spPr>
          <a:xfrm>
            <a:off x="5149901" y="1464869"/>
            <a:ext cx="261518" cy="261518"/>
          </a:xfrm>
          <a:prstGeom prst="rect">
            <a:avLst/>
          </a:prstGeom>
        </p:spPr>
      </p:pic>
      <p:sp>
        <p:nvSpPr>
          <p:cNvPr id="9" name="Text 6"/>
          <p:cNvSpPr txBox="1"/>
          <p:nvPr/>
        </p:nvSpPr>
        <p:spPr>
          <a:xfrm>
            <a:off x="5669280" y="1170432"/>
            <a:ext cx="2926080" cy="859536"/>
          </a:xfrm>
          <a:prstGeom prst="rect">
            <a:avLst/>
          </a:prstGeom>
          <a:noFill/>
          <a:ln/>
        </p:spPr>
        <p:txBody>
          <a:bodyPr wrap="square" lIns="0" tIns="0" rIns="0" bIns="0" rtlCol="0" anchor="ctr"/>
          <a:lstStyle/>
          <a:p>
            <a:pPr indent="0" marL="0">
              <a:buNone/>
            </a:pPr>
            <a:r>
              <a:rPr lang="en-US" sz="1400" b="1" dirty="0">
                <a:solidFill>
                  <a:srgbClr val="12263F"/>
                </a:solidFill>
                <a:latin typeface="Calibri" pitchFamily="34" charset="0"/>
                <a:ea typeface="Calibri" pitchFamily="34" charset="-122"/>
                <a:cs typeface="Calibri" pitchFamily="34" charset="-120"/>
              </a:rPr>
              <a:t>Bit transmission</a:t>
            </a:r>
            <a:endParaRPr lang="en-US" sz="1400" dirty="0"/>
          </a:p>
          <a:p>
            <a:pPr indent="0" marL="0">
              <a:buNone/>
            </a:pPr>
            <a:r>
              <a:rPr lang="en-US" sz="1100" dirty="0">
                <a:solidFill>
                  <a:srgbClr val="1B2A3A"/>
                </a:solidFill>
                <a:latin typeface="Calibri" pitchFamily="34" charset="0"/>
                <a:ea typeface="Calibri" pitchFamily="34" charset="-122"/>
                <a:cs typeface="Calibri" pitchFamily="34" charset="-120"/>
              </a:rPr>
              <a:t>Exact, fast, but energy-hungry; fails hard in a poor channel.</a:t>
            </a:r>
            <a:endParaRPr lang="en-US" sz="1400" dirty="0"/>
          </a:p>
        </p:txBody>
      </p:sp>
      <p:sp>
        <p:nvSpPr>
          <p:cNvPr id="10" name="Shape 7"/>
          <p:cNvSpPr/>
          <p:nvPr/>
        </p:nvSpPr>
        <p:spPr>
          <a:xfrm>
            <a:off x="4892040" y="2267712"/>
            <a:ext cx="3794760" cy="1005840"/>
          </a:xfrm>
          <a:prstGeom prst="roundRect">
            <a:avLst>
              <a:gd name="adj" fmla="val 7273"/>
            </a:avLst>
          </a:prstGeom>
          <a:solidFill>
            <a:srgbClr val="F3F6F9"/>
          </a:solidFill>
          <a:ln w="12700">
            <a:solidFill>
              <a:srgbClr val="F3F6F9"/>
            </a:solidFill>
            <a:prstDash val="solid"/>
          </a:ln>
        </p:spPr>
      </p:sp>
      <p:sp>
        <p:nvSpPr>
          <p:cNvPr id="11" name="Shape 8"/>
          <p:cNvSpPr/>
          <p:nvPr/>
        </p:nvSpPr>
        <p:spPr>
          <a:xfrm>
            <a:off x="5029200" y="2514600"/>
            <a:ext cx="502920" cy="502920"/>
          </a:xfrm>
          <a:prstGeom prst="ellipse">
            <a:avLst/>
          </a:prstGeom>
          <a:solidFill>
            <a:srgbClr val="0E7C7B"/>
          </a:solidFill>
          <a:ln w="12700">
            <a:solidFill>
              <a:srgbClr val="0E7C7B"/>
            </a:solidFill>
            <a:prstDash val="solid"/>
          </a:ln>
        </p:spPr>
      </p:sp>
      <p:pic>
        <p:nvPicPr>
          <p:cNvPr id="12" name="Image 1" descr="preencoded.png">    </p:cNvPr>
          <p:cNvPicPr>
            <a:picLocks noChangeAspect="1"/>
          </p:cNvPicPr>
          <p:nvPr/>
        </p:nvPicPr>
        <p:blipFill>
          <a:blip r:embed="rId2"/>
          <a:stretch>
            <a:fillRect/>
          </a:stretch>
        </p:blipFill>
        <p:spPr>
          <a:xfrm>
            <a:off x="5149901" y="2635301"/>
            <a:ext cx="261518" cy="261518"/>
          </a:xfrm>
          <a:prstGeom prst="rect">
            <a:avLst/>
          </a:prstGeom>
        </p:spPr>
      </p:pic>
      <p:sp>
        <p:nvSpPr>
          <p:cNvPr id="13" name="Text 9"/>
          <p:cNvSpPr txBox="1"/>
          <p:nvPr/>
        </p:nvSpPr>
        <p:spPr>
          <a:xfrm>
            <a:off x="5669280" y="2340864"/>
            <a:ext cx="2926080" cy="859536"/>
          </a:xfrm>
          <a:prstGeom prst="rect">
            <a:avLst/>
          </a:prstGeom>
          <a:noFill/>
          <a:ln/>
        </p:spPr>
        <p:txBody>
          <a:bodyPr wrap="square" lIns="0" tIns="0" rIns="0" bIns="0" rtlCol="0" anchor="ctr"/>
          <a:lstStyle/>
          <a:p>
            <a:pPr indent="0" marL="0">
              <a:buNone/>
            </a:pPr>
            <a:r>
              <a:rPr lang="en-US" sz="1400" b="1" dirty="0">
                <a:solidFill>
                  <a:srgbClr val="12263F"/>
                </a:solidFill>
                <a:latin typeface="Calibri" pitchFamily="34" charset="0"/>
                <a:ea typeface="Calibri" pitchFamily="34" charset="-122"/>
                <a:cs typeface="Calibri" pitchFamily="34" charset="-120"/>
              </a:rPr>
              <a:t>Semantic transmission</a:t>
            </a:r>
            <a:endParaRPr lang="en-US" sz="1400" dirty="0"/>
          </a:p>
          <a:p>
            <a:pPr indent="0" marL="0">
              <a:buNone/>
            </a:pPr>
            <a:r>
              <a:rPr lang="en-US" sz="1100" dirty="0">
                <a:solidFill>
                  <a:srgbClr val="1B2A3A"/>
                </a:solidFill>
                <a:latin typeface="Calibri" pitchFamily="34" charset="0"/>
                <a:ea typeface="Calibri" pitchFamily="34" charset="-122"/>
                <a:cs typeface="Calibri" pitchFamily="34" charset="-120"/>
              </a:rPr>
              <a:t>Sends meaning only; degrades smoothly; needs neural inference (slower).</a:t>
            </a:r>
            <a:endParaRPr lang="en-US" sz="1400" dirty="0"/>
          </a:p>
        </p:txBody>
      </p:sp>
      <p:sp>
        <p:nvSpPr>
          <p:cNvPr id="14" name="Shape 10"/>
          <p:cNvSpPr/>
          <p:nvPr/>
        </p:nvSpPr>
        <p:spPr>
          <a:xfrm>
            <a:off x="4892040" y="3438144"/>
            <a:ext cx="3794760" cy="1005840"/>
          </a:xfrm>
          <a:prstGeom prst="roundRect">
            <a:avLst>
              <a:gd name="adj" fmla="val 7273"/>
            </a:avLst>
          </a:prstGeom>
          <a:solidFill>
            <a:srgbClr val="F3F6F9"/>
          </a:solidFill>
          <a:ln w="12700">
            <a:solidFill>
              <a:srgbClr val="F3F6F9"/>
            </a:solidFill>
            <a:prstDash val="solid"/>
          </a:ln>
        </p:spPr>
      </p:sp>
      <p:sp>
        <p:nvSpPr>
          <p:cNvPr id="15" name="Shape 11"/>
          <p:cNvSpPr/>
          <p:nvPr/>
        </p:nvSpPr>
        <p:spPr>
          <a:xfrm>
            <a:off x="5029200" y="3685032"/>
            <a:ext cx="502920" cy="502920"/>
          </a:xfrm>
          <a:prstGeom prst="ellipse">
            <a:avLst/>
          </a:prstGeom>
          <a:solidFill>
            <a:srgbClr val="0E7C7B"/>
          </a:solidFill>
          <a:ln w="12700">
            <a:solidFill>
              <a:srgbClr val="0E7C7B"/>
            </a:solidFill>
            <a:prstDash val="solid"/>
          </a:ln>
        </p:spPr>
      </p:sp>
      <p:pic>
        <p:nvPicPr>
          <p:cNvPr id="16" name="Image 2" descr="preencoded.png">    </p:cNvPr>
          <p:cNvPicPr>
            <a:picLocks noChangeAspect="1"/>
          </p:cNvPicPr>
          <p:nvPr/>
        </p:nvPicPr>
        <p:blipFill>
          <a:blip r:embed="rId3"/>
          <a:stretch>
            <a:fillRect/>
          </a:stretch>
        </p:blipFill>
        <p:spPr>
          <a:xfrm>
            <a:off x="5149901" y="3805733"/>
            <a:ext cx="261518" cy="261518"/>
          </a:xfrm>
          <a:prstGeom prst="rect">
            <a:avLst/>
          </a:prstGeom>
        </p:spPr>
      </p:pic>
      <p:sp>
        <p:nvSpPr>
          <p:cNvPr id="17" name="Text 12"/>
          <p:cNvSpPr txBox="1"/>
          <p:nvPr/>
        </p:nvSpPr>
        <p:spPr>
          <a:xfrm>
            <a:off x="5669280" y="3511296"/>
            <a:ext cx="2926080" cy="859536"/>
          </a:xfrm>
          <a:prstGeom prst="rect">
            <a:avLst/>
          </a:prstGeom>
          <a:noFill/>
          <a:ln/>
        </p:spPr>
        <p:txBody>
          <a:bodyPr wrap="square" lIns="0" tIns="0" rIns="0" bIns="0" rtlCol="0" anchor="ctr"/>
          <a:lstStyle/>
          <a:p>
            <a:pPr indent="0" marL="0">
              <a:buNone/>
            </a:pPr>
            <a:r>
              <a:rPr lang="en-US" sz="1400" b="1" dirty="0">
                <a:solidFill>
                  <a:srgbClr val="12263F"/>
                </a:solidFill>
                <a:latin typeface="Calibri" pitchFamily="34" charset="0"/>
                <a:ea typeface="Calibri" pitchFamily="34" charset="-122"/>
                <a:cs typeface="Calibri" pitchFamily="34" charset="-120"/>
              </a:rPr>
              <a:t>Compressed semantic</a:t>
            </a:r>
            <a:endParaRPr lang="en-US" sz="1400" dirty="0"/>
          </a:p>
          <a:p>
            <a:pPr indent="0" marL="0">
              <a:buNone/>
            </a:pPr>
            <a:r>
              <a:rPr lang="en-US" sz="1100" dirty="0">
                <a:solidFill>
                  <a:srgbClr val="1B2A3A"/>
                </a:solidFill>
                <a:latin typeface="Calibri" pitchFamily="34" charset="0"/>
                <a:ea typeface="Calibri" pitchFamily="34" charset="-122"/>
                <a:cs typeface="Calibri" pitchFamily="34" charset="-120"/>
              </a:rPr>
              <a:t>Lowest energy and most resilient at low SNR; lowest fidelity ceiling.</a:t>
            </a:r>
            <a:endParaRPr lang="en-US" sz="1400" dirty="0"/>
          </a:p>
        </p:txBody>
      </p:sp>
      <p:sp>
        <p:nvSpPr>
          <p:cNvPr id="18" name="Text 13"/>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Machine Learning (25SC2107E)  |  Project Review 2</a:t>
            </a:r>
            <a:endParaRPr lang="en-US" sz="900" dirty="0"/>
          </a:p>
        </p:txBody>
      </p:sp>
      <p:sp>
        <p:nvSpPr>
          <p:cNvPr id="19" name="Text 14"/>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Proposed method: a contextual bandit picks the mode</a:t>
            </a:r>
            <a:endParaRPr lang="en-US" sz="2600" dirty="0"/>
          </a:p>
        </p:txBody>
      </p:sp>
      <p:sp>
        <p:nvSpPr>
          <p:cNvPr id="3" name="Shape 1"/>
          <p:cNvSpPr/>
          <p:nvPr/>
        </p:nvSpPr>
        <p:spPr>
          <a:xfrm>
            <a:off x="457200" y="1097280"/>
            <a:ext cx="1737360" cy="1234440"/>
          </a:xfrm>
          <a:prstGeom prst="roundRect">
            <a:avLst>
              <a:gd name="adj" fmla="val 5926"/>
            </a:avLst>
          </a:prstGeom>
          <a:solidFill>
            <a:srgbClr val="F3F6F9"/>
          </a:solidFill>
          <a:ln w="12700">
            <a:solidFill>
              <a:srgbClr val="F3F6F9"/>
            </a:solidFill>
            <a:prstDash val="solid"/>
          </a:ln>
        </p:spPr>
      </p:sp>
      <p:sp>
        <p:nvSpPr>
          <p:cNvPr id="4" name="Shape 2"/>
          <p:cNvSpPr/>
          <p:nvPr/>
        </p:nvSpPr>
        <p:spPr>
          <a:xfrm>
            <a:off x="566928" y="1188720"/>
            <a:ext cx="365760" cy="365760"/>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654710" y="1276502"/>
            <a:ext cx="190195" cy="190195"/>
          </a:xfrm>
          <a:prstGeom prst="rect">
            <a:avLst/>
          </a:prstGeom>
        </p:spPr>
      </p:pic>
      <p:sp>
        <p:nvSpPr>
          <p:cNvPr id="6" name="Text 3"/>
          <p:cNvSpPr txBox="1"/>
          <p:nvPr/>
        </p:nvSpPr>
        <p:spPr>
          <a:xfrm>
            <a:off x="1005840" y="1188720"/>
            <a:ext cx="1143000" cy="36576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Context</a:t>
            </a:r>
            <a:endParaRPr lang="en-US" sz="1300" dirty="0"/>
          </a:p>
        </p:txBody>
      </p:sp>
      <p:sp>
        <p:nvSpPr>
          <p:cNvPr id="7" name="Text 4"/>
          <p:cNvSpPr txBox="1"/>
          <p:nvPr/>
        </p:nvSpPr>
        <p:spPr>
          <a:xfrm>
            <a:off x="566928" y="1600200"/>
            <a:ext cx="1536192" cy="685800"/>
          </a:xfrm>
          <a:prstGeom prst="rect">
            <a:avLst/>
          </a:prstGeom>
          <a:noFill/>
          <a:ln/>
        </p:spPr>
        <p:txBody>
          <a:bodyPr wrap="square" lIns="0" tIns="0" rIns="0" bIns="0" rtlCol="0" anchor="t"/>
          <a:lstStyle/>
          <a:p>
            <a:pPr indent="0" marL="0">
              <a:buNone/>
            </a:pPr>
            <a:r>
              <a:rPr lang="en-US" sz="1000" dirty="0">
                <a:solidFill>
                  <a:srgbClr val="1B2A3A"/>
                </a:solidFill>
                <a:latin typeface="Calibri" pitchFamily="34" charset="0"/>
                <a:ea typeface="Calibri" pitchFamily="34" charset="-122"/>
                <a:cs typeface="Calibri" pitchFamily="34" charset="-120"/>
              </a:rPr>
              <a:t>SNR, urgency, delay budget, quality requirement (13 engineered features)</a:t>
            </a:r>
            <a:endParaRPr lang="en-US" sz="1000" dirty="0"/>
          </a:p>
        </p:txBody>
      </p:sp>
      <p:sp>
        <p:nvSpPr>
          <p:cNvPr id="8" name="Text 5"/>
          <p:cNvSpPr txBox="1"/>
          <p:nvPr/>
        </p:nvSpPr>
        <p:spPr>
          <a:xfrm>
            <a:off x="2194560" y="1554480"/>
            <a:ext cx="426750" cy="365760"/>
          </a:xfrm>
          <a:prstGeom prst="rect">
            <a:avLst/>
          </a:prstGeom>
          <a:noFill/>
          <a:ln/>
        </p:spPr>
        <p:txBody>
          <a:bodyPr wrap="square" lIns="0" tIns="0" rIns="0" bIns="0" rtlCol="0" anchor="ctr"/>
          <a:lstStyle/>
          <a:p>
            <a:pPr algn="ctr" indent="0" marL="0">
              <a:buNone/>
            </a:pPr>
            <a:r>
              <a:rPr lang="en-US" sz="1200" dirty="0">
                <a:solidFill>
                  <a:srgbClr val="0E7C7B"/>
                </a:solidFill>
                <a:latin typeface="Calibri" pitchFamily="34" charset="0"/>
                <a:ea typeface="Calibri" pitchFamily="34" charset="-122"/>
                <a:cs typeface="Calibri" pitchFamily="34" charset="-120"/>
              </a:rPr>
              <a:t>▶</a:t>
            </a:r>
            <a:endParaRPr lang="en-US" sz="1200" dirty="0"/>
          </a:p>
        </p:txBody>
      </p:sp>
      <p:sp>
        <p:nvSpPr>
          <p:cNvPr id="9" name="Shape 6"/>
          <p:cNvSpPr/>
          <p:nvPr/>
        </p:nvSpPr>
        <p:spPr>
          <a:xfrm>
            <a:off x="2621310" y="1097280"/>
            <a:ext cx="1737360" cy="1234440"/>
          </a:xfrm>
          <a:prstGeom prst="roundRect">
            <a:avLst>
              <a:gd name="adj" fmla="val 5926"/>
            </a:avLst>
          </a:prstGeom>
          <a:solidFill>
            <a:srgbClr val="F3F6F9"/>
          </a:solidFill>
          <a:ln w="12700">
            <a:solidFill>
              <a:srgbClr val="F3F6F9"/>
            </a:solidFill>
            <a:prstDash val="solid"/>
          </a:ln>
        </p:spPr>
      </p:sp>
      <p:sp>
        <p:nvSpPr>
          <p:cNvPr id="10" name="Shape 7"/>
          <p:cNvSpPr/>
          <p:nvPr/>
        </p:nvSpPr>
        <p:spPr>
          <a:xfrm>
            <a:off x="2731038" y="1188720"/>
            <a:ext cx="365760" cy="36576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2818821" y="1276502"/>
            <a:ext cx="190195" cy="190195"/>
          </a:xfrm>
          <a:prstGeom prst="rect">
            <a:avLst/>
          </a:prstGeom>
        </p:spPr>
      </p:pic>
      <p:sp>
        <p:nvSpPr>
          <p:cNvPr id="12" name="Text 8"/>
          <p:cNvSpPr txBox="1"/>
          <p:nvPr/>
        </p:nvSpPr>
        <p:spPr>
          <a:xfrm>
            <a:off x="3169950" y="1188720"/>
            <a:ext cx="1143000" cy="36576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Learner</a:t>
            </a:r>
            <a:endParaRPr lang="en-US" sz="1300" dirty="0"/>
          </a:p>
        </p:txBody>
      </p:sp>
      <p:sp>
        <p:nvSpPr>
          <p:cNvPr id="13" name="Text 9"/>
          <p:cNvSpPr txBox="1"/>
          <p:nvPr/>
        </p:nvSpPr>
        <p:spPr>
          <a:xfrm>
            <a:off x="2731038" y="1600200"/>
            <a:ext cx="1536192" cy="685800"/>
          </a:xfrm>
          <a:prstGeom prst="rect">
            <a:avLst/>
          </a:prstGeom>
          <a:noFill/>
          <a:ln/>
        </p:spPr>
        <p:txBody>
          <a:bodyPr wrap="square" lIns="0" tIns="0" rIns="0" bIns="0" rtlCol="0" anchor="t"/>
          <a:lstStyle/>
          <a:p>
            <a:pPr indent="0" marL="0">
              <a:buNone/>
            </a:pPr>
            <a:r>
              <a:rPr lang="en-US" sz="1000" dirty="0">
                <a:solidFill>
                  <a:srgbClr val="1B2A3A"/>
                </a:solidFill>
                <a:latin typeface="Calibri" pitchFamily="34" charset="0"/>
                <a:ea typeface="Calibri" pitchFamily="34" charset="-122"/>
                <a:cs typeface="Calibri" pitchFamily="34" charset="-120"/>
              </a:rPr>
              <a:t>LinUCB or Thompson Sampling (DQN as baseline)</a:t>
            </a:r>
            <a:endParaRPr lang="en-US" sz="1000" dirty="0"/>
          </a:p>
        </p:txBody>
      </p:sp>
      <p:sp>
        <p:nvSpPr>
          <p:cNvPr id="14" name="Text 10"/>
          <p:cNvSpPr txBox="1"/>
          <p:nvPr/>
        </p:nvSpPr>
        <p:spPr>
          <a:xfrm>
            <a:off x="4358670" y="1554480"/>
            <a:ext cx="426750" cy="365760"/>
          </a:xfrm>
          <a:prstGeom prst="rect">
            <a:avLst/>
          </a:prstGeom>
          <a:noFill/>
          <a:ln/>
        </p:spPr>
        <p:txBody>
          <a:bodyPr wrap="square" lIns="0" tIns="0" rIns="0" bIns="0" rtlCol="0" anchor="ctr"/>
          <a:lstStyle/>
          <a:p>
            <a:pPr algn="ctr" indent="0" marL="0">
              <a:buNone/>
            </a:pPr>
            <a:r>
              <a:rPr lang="en-US" sz="1200" dirty="0">
                <a:solidFill>
                  <a:srgbClr val="0E7C7B"/>
                </a:solidFill>
                <a:latin typeface="Calibri" pitchFamily="34" charset="0"/>
                <a:ea typeface="Calibri" pitchFamily="34" charset="-122"/>
                <a:cs typeface="Calibri" pitchFamily="34" charset="-120"/>
              </a:rPr>
              <a:t>▶</a:t>
            </a:r>
            <a:endParaRPr lang="en-US" sz="1200" dirty="0"/>
          </a:p>
        </p:txBody>
      </p:sp>
      <p:sp>
        <p:nvSpPr>
          <p:cNvPr id="15" name="Shape 11"/>
          <p:cNvSpPr/>
          <p:nvPr/>
        </p:nvSpPr>
        <p:spPr>
          <a:xfrm>
            <a:off x="4785421" y="1097280"/>
            <a:ext cx="1737360" cy="1234440"/>
          </a:xfrm>
          <a:prstGeom prst="roundRect">
            <a:avLst>
              <a:gd name="adj" fmla="val 5926"/>
            </a:avLst>
          </a:prstGeom>
          <a:solidFill>
            <a:srgbClr val="F3F6F9"/>
          </a:solidFill>
          <a:ln w="12700">
            <a:solidFill>
              <a:srgbClr val="F3F6F9"/>
            </a:solidFill>
            <a:prstDash val="solid"/>
          </a:ln>
        </p:spPr>
      </p:sp>
      <p:sp>
        <p:nvSpPr>
          <p:cNvPr id="16" name="Shape 12"/>
          <p:cNvSpPr/>
          <p:nvPr/>
        </p:nvSpPr>
        <p:spPr>
          <a:xfrm>
            <a:off x="4895149" y="1188720"/>
            <a:ext cx="365760" cy="365760"/>
          </a:xfrm>
          <a:prstGeom prst="ellipse">
            <a:avLst/>
          </a:prstGeom>
          <a:solidFill>
            <a:srgbClr val="0E7C7B"/>
          </a:solidFill>
          <a:ln w="12700">
            <a:solidFill>
              <a:srgbClr val="0E7C7B"/>
            </a:solidFill>
            <a:prstDash val="solid"/>
          </a:ln>
        </p:spPr>
      </p:sp>
      <p:pic>
        <p:nvPicPr>
          <p:cNvPr id="17" name="Image 2" descr="preencoded.png">    </p:cNvPr>
          <p:cNvPicPr>
            <a:picLocks noChangeAspect="1"/>
          </p:cNvPicPr>
          <p:nvPr/>
        </p:nvPicPr>
        <p:blipFill>
          <a:blip r:embed="rId3"/>
          <a:stretch>
            <a:fillRect/>
          </a:stretch>
        </p:blipFill>
        <p:spPr>
          <a:xfrm>
            <a:off x="4982931" y="1276502"/>
            <a:ext cx="190195" cy="190195"/>
          </a:xfrm>
          <a:prstGeom prst="rect">
            <a:avLst/>
          </a:prstGeom>
        </p:spPr>
      </p:pic>
      <p:sp>
        <p:nvSpPr>
          <p:cNvPr id="18" name="Text 13"/>
          <p:cNvSpPr txBox="1"/>
          <p:nvPr/>
        </p:nvSpPr>
        <p:spPr>
          <a:xfrm>
            <a:off x="5334061" y="1188720"/>
            <a:ext cx="1143000" cy="36576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Action</a:t>
            </a:r>
            <a:endParaRPr lang="en-US" sz="1300" dirty="0"/>
          </a:p>
        </p:txBody>
      </p:sp>
      <p:sp>
        <p:nvSpPr>
          <p:cNvPr id="19" name="Text 14"/>
          <p:cNvSpPr txBox="1"/>
          <p:nvPr/>
        </p:nvSpPr>
        <p:spPr>
          <a:xfrm>
            <a:off x="4895149" y="1600200"/>
            <a:ext cx="1536192" cy="685800"/>
          </a:xfrm>
          <a:prstGeom prst="rect">
            <a:avLst/>
          </a:prstGeom>
          <a:noFill/>
          <a:ln/>
        </p:spPr>
        <p:txBody>
          <a:bodyPr wrap="square" lIns="0" tIns="0" rIns="0" bIns="0" rtlCol="0" anchor="t"/>
          <a:lstStyle/>
          <a:p>
            <a:pPr indent="0" marL="0">
              <a:buNone/>
            </a:pPr>
            <a:r>
              <a:rPr lang="en-US" sz="1000" dirty="0">
                <a:solidFill>
                  <a:srgbClr val="1B2A3A"/>
                </a:solidFill>
                <a:latin typeface="Calibri" pitchFamily="34" charset="0"/>
                <a:ea typeface="Calibri" pitchFamily="34" charset="-122"/>
                <a:cs typeface="Calibri" pitchFamily="34" charset="-120"/>
              </a:rPr>
              <a:t>bit, semantic or compressed semantic</a:t>
            </a:r>
            <a:endParaRPr lang="en-US" sz="1000" dirty="0"/>
          </a:p>
        </p:txBody>
      </p:sp>
      <p:sp>
        <p:nvSpPr>
          <p:cNvPr id="20" name="Text 15"/>
          <p:cNvSpPr txBox="1"/>
          <p:nvPr/>
        </p:nvSpPr>
        <p:spPr>
          <a:xfrm>
            <a:off x="6522781" y="1554480"/>
            <a:ext cx="426750" cy="365760"/>
          </a:xfrm>
          <a:prstGeom prst="rect">
            <a:avLst/>
          </a:prstGeom>
          <a:noFill/>
          <a:ln/>
        </p:spPr>
        <p:txBody>
          <a:bodyPr wrap="square" lIns="0" tIns="0" rIns="0" bIns="0" rtlCol="0" anchor="ctr"/>
          <a:lstStyle/>
          <a:p>
            <a:pPr algn="ctr" indent="0" marL="0">
              <a:buNone/>
            </a:pPr>
            <a:r>
              <a:rPr lang="en-US" sz="1200" dirty="0">
                <a:solidFill>
                  <a:srgbClr val="0E7C7B"/>
                </a:solidFill>
                <a:latin typeface="Calibri" pitchFamily="34" charset="0"/>
                <a:ea typeface="Calibri" pitchFamily="34" charset="-122"/>
                <a:cs typeface="Calibri" pitchFamily="34" charset="-120"/>
              </a:rPr>
              <a:t>▶</a:t>
            </a:r>
            <a:endParaRPr lang="en-US" sz="1200" dirty="0"/>
          </a:p>
        </p:txBody>
      </p:sp>
      <p:sp>
        <p:nvSpPr>
          <p:cNvPr id="21" name="Shape 16"/>
          <p:cNvSpPr/>
          <p:nvPr/>
        </p:nvSpPr>
        <p:spPr>
          <a:xfrm>
            <a:off x="6949531" y="1097280"/>
            <a:ext cx="1737360" cy="1234440"/>
          </a:xfrm>
          <a:prstGeom prst="roundRect">
            <a:avLst>
              <a:gd name="adj" fmla="val 5926"/>
            </a:avLst>
          </a:prstGeom>
          <a:solidFill>
            <a:srgbClr val="F3F6F9"/>
          </a:solidFill>
          <a:ln w="12700">
            <a:solidFill>
              <a:srgbClr val="F3F6F9"/>
            </a:solidFill>
            <a:prstDash val="solid"/>
          </a:ln>
        </p:spPr>
      </p:sp>
      <p:sp>
        <p:nvSpPr>
          <p:cNvPr id="22" name="Shape 17"/>
          <p:cNvSpPr/>
          <p:nvPr/>
        </p:nvSpPr>
        <p:spPr>
          <a:xfrm>
            <a:off x="7059259" y="1188720"/>
            <a:ext cx="365760" cy="365760"/>
          </a:xfrm>
          <a:prstGeom prst="ellipse">
            <a:avLst/>
          </a:prstGeom>
          <a:solidFill>
            <a:srgbClr val="0E7C7B"/>
          </a:solidFill>
          <a:ln w="12700">
            <a:solidFill>
              <a:srgbClr val="0E7C7B"/>
            </a:solidFill>
            <a:prstDash val="solid"/>
          </a:ln>
        </p:spPr>
      </p:sp>
      <p:pic>
        <p:nvPicPr>
          <p:cNvPr id="23" name="Image 3" descr="preencoded.png">    </p:cNvPr>
          <p:cNvPicPr>
            <a:picLocks noChangeAspect="1"/>
          </p:cNvPicPr>
          <p:nvPr/>
        </p:nvPicPr>
        <p:blipFill>
          <a:blip r:embed="rId4"/>
          <a:stretch>
            <a:fillRect/>
          </a:stretch>
        </p:blipFill>
        <p:spPr>
          <a:xfrm>
            <a:off x="7147042" y="1276502"/>
            <a:ext cx="190195" cy="190195"/>
          </a:xfrm>
          <a:prstGeom prst="rect">
            <a:avLst/>
          </a:prstGeom>
        </p:spPr>
      </p:pic>
      <p:sp>
        <p:nvSpPr>
          <p:cNvPr id="24" name="Text 18"/>
          <p:cNvSpPr txBox="1"/>
          <p:nvPr/>
        </p:nvSpPr>
        <p:spPr>
          <a:xfrm>
            <a:off x="7498171" y="1188720"/>
            <a:ext cx="1143000" cy="36576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Reward</a:t>
            </a:r>
            <a:endParaRPr lang="en-US" sz="1300" dirty="0"/>
          </a:p>
        </p:txBody>
      </p:sp>
      <p:sp>
        <p:nvSpPr>
          <p:cNvPr id="25" name="Text 19"/>
          <p:cNvSpPr txBox="1"/>
          <p:nvPr/>
        </p:nvSpPr>
        <p:spPr>
          <a:xfrm>
            <a:off x="7059259" y="1600200"/>
            <a:ext cx="1536192" cy="685800"/>
          </a:xfrm>
          <a:prstGeom prst="rect">
            <a:avLst/>
          </a:prstGeom>
          <a:noFill/>
          <a:ln/>
        </p:spPr>
        <p:txBody>
          <a:bodyPr wrap="square" lIns="0" tIns="0" rIns="0" bIns="0" rtlCol="0" anchor="t"/>
          <a:lstStyle/>
          <a:p>
            <a:pPr indent="0" marL="0">
              <a:buNone/>
            </a:pPr>
            <a:r>
              <a:rPr lang="en-US" sz="1000" dirty="0">
                <a:solidFill>
                  <a:srgbClr val="1B2A3A"/>
                </a:solidFill>
                <a:latin typeface="Calibri" pitchFamily="34" charset="0"/>
                <a:ea typeface="Calibri" pitchFamily="34" charset="-122"/>
                <a:cs typeface="Calibri" pitchFamily="34" charset="-120"/>
              </a:rPr>
              <a:t>success minus urgency x latency minus energy</a:t>
            </a:r>
            <a:endParaRPr lang="en-US" sz="1000" dirty="0"/>
          </a:p>
        </p:txBody>
      </p:sp>
      <p:sp>
        <p:nvSpPr>
          <p:cNvPr id="26" name="Text 20"/>
          <p:cNvSpPr txBox="1"/>
          <p:nvPr/>
        </p:nvSpPr>
        <p:spPr>
          <a:xfrm>
            <a:off x="457200" y="2377440"/>
            <a:ext cx="8229600" cy="256032"/>
          </a:xfrm>
          <a:prstGeom prst="rect">
            <a:avLst/>
          </a:prstGeom>
          <a:noFill/>
          <a:ln/>
        </p:spPr>
        <p:txBody>
          <a:bodyPr wrap="square" lIns="0" tIns="0" rIns="0" bIns="0" rtlCol="0" anchor="ctr"/>
          <a:lstStyle/>
          <a:p>
            <a:pPr algn="ctr" indent="0" marL="0">
              <a:buNone/>
            </a:pPr>
            <a:r>
              <a:rPr lang="en-US" sz="1050" i="1" dirty="0">
                <a:solidFill>
                  <a:srgbClr val="5B6472"/>
                </a:solidFill>
                <a:latin typeface="Calibri" pitchFamily="34" charset="0"/>
                <a:ea typeface="Calibri" pitchFamily="34" charset="-122"/>
                <a:cs typeface="Calibri" pitchFamily="34" charset="-120"/>
              </a:rPr>
              <a:t>reward feedback after every task updates the learner</a:t>
            </a:r>
            <a:endParaRPr lang="en-US" sz="1050" dirty="0"/>
          </a:p>
        </p:txBody>
      </p:sp>
      <p:sp>
        <p:nvSpPr>
          <p:cNvPr id="27" name="Shape 21"/>
          <p:cNvSpPr/>
          <p:nvPr/>
        </p:nvSpPr>
        <p:spPr>
          <a:xfrm>
            <a:off x="457200" y="2743200"/>
            <a:ext cx="2606040" cy="1280160"/>
          </a:xfrm>
          <a:prstGeom prst="roundRect">
            <a:avLst>
              <a:gd name="adj" fmla="val 5714"/>
            </a:avLst>
          </a:prstGeom>
          <a:solidFill>
            <a:srgbClr val="F3F6F9"/>
          </a:solidFill>
          <a:ln w="12700">
            <a:solidFill>
              <a:srgbClr val="F3F6F9"/>
            </a:solidFill>
            <a:prstDash val="solid"/>
          </a:ln>
        </p:spPr>
      </p:sp>
      <p:sp>
        <p:nvSpPr>
          <p:cNvPr id="28" name="Text 22"/>
          <p:cNvSpPr txBox="1"/>
          <p:nvPr/>
        </p:nvSpPr>
        <p:spPr>
          <a:xfrm>
            <a:off x="594360" y="2807208"/>
            <a:ext cx="233172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LinUCB</a:t>
            </a:r>
            <a:endParaRPr lang="en-US" sz="1300" dirty="0"/>
          </a:p>
        </p:txBody>
      </p:sp>
      <p:sp>
        <p:nvSpPr>
          <p:cNvPr id="29" name="Text 23"/>
          <p:cNvSpPr txBox="1"/>
          <p:nvPr/>
        </p:nvSpPr>
        <p:spPr>
          <a:xfrm>
            <a:off x="594360" y="3108960"/>
            <a:ext cx="2377440" cy="86868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1B2A3A"/>
                </a:solidFill>
                <a:latin typeface="Calibri" pitchFamily="34" charset="0"/>
                <a:ea typeface="Calibri" pitchFamily="34" charset="-122"/>
                <a:cs typeface="Calibri" pitchFamily="34" charset="-120"/>
              </a:rPr>
              <a:t>Per-mode ridge regression on the context</a:t>
            </a:r>
            <a:endParaRPr lang="en-US" sz="1000" dirty="0"/>
          </a:p>
          <a:p>
            <a:pPr marL="177800" indent="-177800">
              <a:spcAft>
                <a:spcPts val="300"/>
              </a:spcAft>
              <a:buSzPct val="100000"/>
              <a:buChar char="•"/>
            </a:pPr>
            <a:r>
              <a:rPr lang="en-US" sz="1000" dirty="0">
                <a:solidFill>
                  <a:srgbClr val="1B2A3A"/>
                </a:solidFill>
                <a:latin typeface="Calibri" pitchFamily="34" charset="0"/>
                <a:ea typeface="Calibri" pitchFamily="34" charset="-122"/>
                <a:cs typeface="Calibri" pitchFamily="34" charset="-120"/>
              </a:rPr>
              <a:t>Chooses highest estimate plus uncertainty bonus</a:t>
            </a:r>
            <a:endParaRPr lang="en-US" sz="1000" dirty="0"/>
          </a:p>
          <a:p>
            <a:pPr marL="177800" indent="-177800">
              <a:spcAft>
                <a:spcPts val="300"/>
              </a:spcAft>
              <a:buSzPct val="100000"/>
              <a:buChar char="•"/>
            </a:pPr>
            <a:r>
              <a:rPr lang="en-US" sz="1000" dirty="0">
                <a:solidFill>
                  <a:srgbClr val="1B2A3A"/>
                </a:solidFill>
                <a:latin typeface="Calibri" pitchFamily="34" charset="0"/>
                <a:ea typeface="Calibri" pitchFamily="34" charset="-122"/>
                <a:cs typeface="Calibri" pitchFamily="34" charset="-120"/>
              </a:rPr>
              <a:t>Explores where it is unsure (alpha = 1, tuned)</a:t>
            </a:r>
            <a:endParaRPr lang="en-US" sz="1000" dirty="0"/>
          </a:p>
        </p:txBody>
      </p:sp>
      <p:sp>
        <p:nvSpPr>
          <p:cNvPr id="30" name="Shape 24"/>
          <p:cNvSpPr/>
          <p:nvPr/>
        </p:nvSpPr>
        <p:spPr>
          <a:xfrm>
            <a:off x="3268980" y="2743200"/>
            <a:ext cx="2606040" cy="1280160"/>
          </a:xfrm>
          <a:prstGeom prst="roundRect">
            <a:avLst>
              <a:gd name="adj" fmla="val 5714"/>
            </a:avLst>
          </a:prstGeom>
          <a:solidFill>
            <a:srgbClr val="F3F6F9"/>
          </a:solidFill>
          <a:ln w="12700">
            <a:solidFill>
              <a:srgbClr val="F3F6F9"/>
            </a:solidFill>
            <a:prstDash val="solid"/>
          </a:ln>
        </p:spPr>
      </p:sp>
      <p:sp>
        <p:nvSpPr>
          <p:cNvPr id="31" name="Text 25"/>
          <p:cNvSpPr txBox="1"/>
          <p:nvPr/>
        </p:nvSpPr>
        <p:spPr>
          <a:xfrm>
            <a:off x="3406140" y="2807208"/>
            <a:ext cx="233172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Thompson Sampling</a:t>
            </a:r>
            <a:endParaRPr lang="en-US" sz="1300" dirty="0"/>
          </a:p>
        </p:txBody>
      </p:sp>
      <p:sp>
        <p:nvSpPr>
          <p:cNvPr id="32" name="Text 26"/>
          <p:cNvSpPr txBox="1"/>
          <p:nvPr/>
        </p:nvSpPr>
        <p:spPr>
          <a:xfrm>
            <a:off x="3406140" y="3108960"/>
            <a:ext cx="2377440" cy="86868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1B2A3A"/>
                </a:solidFill>
                <a:latin typeface="Calibri" pitchFamily="34" charset="0"/>
                <a:ea typeface="Calibri" pitchFamily="34" charset="-122"/>
                <a:cs typeface="Calibri" pitchFamily="34" charset="-120"/>
              </a:rPr>
              <a:t>Samples model weights from a Bayesian posterior</a:t>
            </a:r>
            <a:endParaRPr lang="en-US" sz="1000" dirty="0"/>
          </a:p>
          <a:p>
            <a:pPr marL="177800" indent="-177800">
              <a:spcAft>
                <a:spcPts val="300"/>
              </a:spcAft>
              <a:buSzPct val="100000"/>
              <a:buChar char="•"/>
            </a:pPr>
            <a:r>
              <a:rPr lang="en-US" sz="1000" dirty="0">
                <a:solidFill>
                  <a:srgbClr val="1B2A3A"/>
                </a:solidFill>
                <a:latin typeface="Calibri" pitchFamily="34" charset="0"/>
                <a:ea typeface="Calibri" pitchFamily="34" charset="-122"/>
                <a:cs typeface="Calibri" pitchFamily="34" charset="-120"/>
              </a:rPr>
              <a:t>Acts greedily on the sampled model</a:t>
            </a:r>
            <a:endParaRPr lang="en-US" sz="1000" dirty="0"/>
          </a:p>
          <a:p>
            <a:pPr marL="177800" indent="-177800">
              <a:spcAft>
                <a:spcPts val="300"/>
              </a:spcAft>
              <a:buSzPct val="100000"/>
              <a:buChar char="•"/>
            </a:pPr>
            <a:r>
              <a:rPr lang="en-US" sz="1000" dirty="0">
                <a:solidFill>
                  <a:srgbClr val="1B2A3A"/>
                </a:solidFill>
                <a:latin typeface="Calibri" pitchFamily="34" charset="0"/>
                <a:ea typeface="Calibri" pitchFamily="34" charset="-122"/>
                <a:cs typeface="Calibri" pitchFamily="34" charset="-120"/>
              </a:rPr>
              <a:t>Exploration comes from posterior spread (v = 0.6)</a:t>
            </a:r>
            <a:endParaRPr lang="en-US" sz="1000" dirty="0"/>
          </a:p>
        </p:txBody>
      </p:sp>
      <p:sp>
        <p:nvSpPr>
          <p:cNvPr id="33" name="Shape 27"/>
          <p:cNvSpPr/>
          <p:nvPr/>
        </p:nvSpPr>
        <p:spPr>
          <a:xfrm>
            <a:off x="6080760" y="2743200"/>
            <a:ext cx="2606040" cy="1280160"/>
          </a:xfrm>
          <a:prstGeom prst="roundRect">
            <a:avLst>
              <a:gd name="adj" fmla="val 5714"/>
            </a:avLst>
          </a:prstGeom>
          <a:solidFill>
            <a:srgbClr val="F3F6F9"/>
          </a:solidFill>
          <a:ln w="12700">
            <a:solidFill>
              <a:srgbClr val="F3F6F9"/>
            </a:solidFill>
            <a:prstDash val="solid"/>
          </a:ln>
        </p:spPr>
      </p:sp>
      <p:sp>
        <p:nvSpPr>
          <p:cNvPr id="34" name="Text 28"/>
          <p:cNvSpPr txBox="1"/>
          <p:nvPr/>
        </p:nvSpPr>
        <p:spPr>
          <a:xfrm>
            <a:off x="6217920" y="2807208"/>
            <a:ext cx="2331720" cy="274320"/>
          </a:xfrm>
          <a:prstGeom prst="rect">
            <a:avLst/>
          </a:prstGeom>
          <a:noFill/>
          <a:ln/>
        </p:spPr>
        <p:txBody>
          <a:bodyPr wrap="square" lIns="0" tIns="0" rIns="0" bIns="0" rtlCol="0" anchor="ctr"/>
          <a:lstStyle/>
          <a:p>
            <a:pPr indent="0" marL="0">
              <a:buNone/>
            </a:pPr>
            <a:r>
              <a:rPr lang="en-US" sz="1300" b="1" dirty="0">
                <a:solidFill>
                  <a:srgbClr val="D1495B"/>
                </a:solidFill>
                <a:latin typeface="Calibri" pitchFamily="34" charset="0"/>
                <a:ea typeface="Calibri" pitchFamily="34" charset="-122"/>
                <a:cs typeface="Calibri" pitchFamily="34" charset="-120"/>
              </a:rPr>
              <a:t>DQN (baseline)</a:t>
            </a:r>
            <a:endParaRPr lang="en-US" sz="1300" dirty="0"/>
          </a:p>
        </p:txBody>
      </p:sp>
      <p:sp>
        <p:nvSpPr>
          <p:cNvPr id="35" name="Text 29"/>
          <p:cNvSpPr txBox="1"/>
          <p:nvPr/>
        </p:nvSpPr>
        <p:spPr>
          <a:xfrm>
            <a:off x="6217920" y="3108960"/>
            <a:ext cx="2377440" cy="86868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1B2A3A"/>
                </a:solidFill>
                <a:latin typeface="Calibri" pitchFamily="34" charset="0"/>
                <a:ea typeface="Calibri" pitchFamily="34" charset="-122"/>
                <a:cs typeface="Calibri" pitchFamily="34" charset="-120"/>
              </a:rPr>
              <a:t>Neural Q-network 64-64, replay buffer, target net</a:t>
            </a:r>
            <a:endParaRPr lang="en-US" sz="1000" dirty="0"/>
          </a:p>
          <a:p>
            <a:pPr marL="177800" indent="-177800">
              <a:spcAft>
                <a:spcPts val="300"/>
              </a:spcAft>
              <a:buSzPct val="100000"/>
              <a:buChar char="•"/>
            </a:pPr>
            <a:r>
              <a:rPr lang="en-US" sz="1000" dirty="0">
                <a:solidFill>
                  <a:srgbClr val="1B2A3A"/>
                </a:solidFill>
                <a:latin typeface="Calibri" pitchFamily="34" charset="0"/>
                <a:ea typeface="Calibri" pitchFamily="34" charset="-122"/>
                <a:cs typeface="Calibri" pitchFamily="34" charset="-120"/>
              </a:rPr>
              <a:t>Can use battery and time-left as state</a:t>
            </a:r>
            <a:endParaRPr lang="en-US" sz="1000" dirty="0"/>
          </a:p>
          <a:p>
            <a:pPr marL="177800" indent="-177800">
              <a:spcAft>
                <a:spcPts val="300"/>
              </a:spcAft>
              <a:buSzPct val="100000"/>
              <a:buChar char="•"/>
            </a:pPr>
            <a:r>
              <a:rPr lang="en-US" sz="1000" dirty="0">
                <a:solidFill>
                  <a:srgbClr val="1B2A3A"/>
                </a:solidFill>
                <a:latin typeface="Calibri" pitchFamily="34" charset="0"/>
                <a:ea typeface="Calibri" pitchFamily="34" charset="-122"/>
                <a:cs typeface="Calibri" pitchFamily="34" charset="-120"/>
              </a:rPr>
              <a:t>Plain NumPy; discount tuned (gamma = 0 in memoryless case)</a:t>
            </a:r>
            <a:endParaRPr lang="en-US" sz="1000" dirty="0"/>
          </a:p>
        </p:txBody>
      </p:sp>
      <p:sp>
        <p:nvSpPr>
          <p:cNvPr id="36" name="Shape 30"/>
          <p:cNvSpPr/>
          <p:nvPr/>
        </p:nvSpPr>
        <p:spPr>
          <a:xfrm>
            <a:off x="457200" y="4160520"/>
            <a:ext cx="8229600" cy="502920"/>
          </a:xfrm>
          <a:prstGeom prst="roundRect">
            <a:avLst>
              <a:gd name="adj" fmla="val 14545"/>
            </a:avLst>
          </a:prstGeom>
          <a:solidFill>
            <a:srgbClr val="12263F"/>
          </a:solidFill>
          <a:ln w="12700">
            <a:solidFill>
              <a:srgbClr val="12263F"/>
            </a:solidFill>
            <a:prstDash val="solid"/>
          </a:ln>
        </p:spPr>
      </p:sp>
      <p:sp>
        <p:nvSpPr>
          <p:cNvPr id="37" name="Text 31"/>
          <p:cNvSpPr txBox="1"/>
          <p:nvPr/>
        </p:nvSpPr>
        <p:spPr>
          <a:xfrm>
            <a:off x="548640" y="4187952"/>
            <a:ext cx="8046720" cy="45720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reward = (+5 if quality ≥ requirement and latency ≤ deadline, else −3)  −  urgency weight × latency  −  2 × energy</a:t>
            </a:r>
            <a:endParaRPr lang="en-US" sz="1250" dirty="0"/>
          </a:p>
        </p:txBody>
      </p:sp>
      <p:sp>
        <p:nvSpPr>
          <p:cNvPr id="38" name="Text 3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Machine Learning (25SC2107E)  |  Project Review 2</a:t>
            </a:r>
            <a:endParaRPr lang="en-US" sz="900" dirty="0"/>
          </a:p>
        </p:txBody>
      </p:sp>
      <p:sp>
        <p:nvSpPr>
          <p:cNvPr id="39" name="Text 3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How it works: from message to transmission</a:t>
            </a:r>
            <a:endParaRPr lang="en-US" sz="2600" dirty="0"/>
          </a:p>
        </p:txBody>
      </p:sp>
      <p:sp>
        <p:nvSpPr>
          <p:cNvPr id="3" name="Shape 1"/>
          <p:cNvSpPr/>
          <p:nvPr/>
        </p:nvSpPr>
        <p:spPr>
          <a:xfrm>
            <a:off x="457200" y="1051560"/>
            <a:ext cx="1280160" cy="1188720"/>
          </a:xfrm>
          <a:prstGeom prst="roundRect">
            <a:avLst>
              <a:gd name="adj" fmla="val 6154"/>
            </a:avLst>
          </a:prstGeom>
          <a:solidFill>
            <a:srgbClr val="F3F6F9"/>
          </a:solidFill>
          <a:ln w="12700">
            <a:solidFill>
              <a:srgbClr val="F3F6F9"/>
            </a:solidFill>
            <a:prstDash val="solid"/>
          </a:ln>
        </p:spPr>
      </p:sp>
      <p:sp>
        <p:nvSpPr>
          <p:cNvPr id="4" name="Shape 2"/>
          <p:cNvSpPr/>
          <p:nvPr/>
        </p:nvSpPr>
        <p:spPr>
          <a:xfrm>
            <a:off x="530352" y="1115568"/>
            <a:ext cx="329184" cy="32918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609356" y="1194572"/>
            <a:ext cx="171176" cy="171176"/>
          </a:xfrm>
          <a:prstGeom prst="rect">
            <a:avLst/>
          </a:prstGeom>
        </p:spPr>
      </p:pic>
      <p:sp>
        <p:nvSpPr>
          <p:cNvPr id="6" name="Text 3"/>
          <p:cNvSpPr txBox="1"/>
          <p:nvPr/>
        </p:nvSpPr>
        <p:spPr>
          <a:xfrm>
            <a:off x="914400" y="1115568"/>
            <a:ext cx="804672" cy="32918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Message</a:t>
            </a:r>
            <a:endParaRPr lang="en-US" sz="1100" dirty="0"/>
          </a:p>
        </p:txBody>
      </p:sp>
      <p:sp>
        <p:nvSpPr>
          <p:cNvPr id="7" name="Text 4"/>
          <p:cNvSpPr txBox="1"/>
          <p:nvPr/>
        </p:nvSpPr>
        <p:spPr>
          <a:xfrm>
            <a:off x="530352" y="1508760"/>
            <a:ext cx="1152144" cy="685800"/>
          </a:xfrm>
          <a:prstGeom prst="rect">
            <a:avLst/>
          </a:prstGeom>
          <a:noFill/>
          <a:ln/>
        </p:spPr>
        <p:txBody>
          <a:bodyPr wrap="square" lIns="0" tIns="0" rIns="0" bIns="0" rtlCol="0" anchor="t"/>
          <a:lstStyle/>
          <a:p>
            <a:pPr indent="0" marL="0">
              <a:buNone/>
            </a:pPr>
            <a:r>
              <a:rPr lang="en-US" sz="950" dirty="0">
                <a:solidFill>
                  <a:srgbClr val="1B2A3A"/>
                </a:solidFill>
                <a:latin typeface="Calibri" pitchFamily="34" charset="0"/>
                <a:ea typeface="Calibri" pitchFamily="34" charset="-122"/>
                <a:cs typeface="Calibri" pitchFamily="34" charset="-120"/>
              </a:rPr>
              <a:t>text typed by the user</a:t>
            </a:r>
            <a:endParaRPr lang="en-US" sz="950" dirty="0"/>
          </a:p>
        </p:txBody>
      </p:sp>
      <p:sp>
        <p:nvSpPr>
          <p:cNvPr id="8" name="Shape 5"/>
          <p:cNvSpPr/>
          <p:nvPr/>
        </p:nvSpPr>
        <p:spPr>
          <a:xfrm>
            <a:off x="1828800" y="1051560"/>
            <a:ext cx="1280160" cy="1188720"/>
          </a:xfrm>
          <a:prstGeom prst="roundRect">
            <a:avLst>
              <a:gd name="adj" fmla="val 6154"/>
            </a:avLst>
          </a:prstGeom>
          <a:solidFill>
            <a:srgbClr val="F3F6F9"/>
          </a:solidFill>
          <a:ln w="12700">
            <a:solidFill>
              <a:srgbClr val="F3F6F9"/>
            </a:solidFill>
            <a:prstDash val="solid"/>
          </a:ln>
        </p:spPr>
      </p:sp>
      <p:sp>
        <p:nvSpPr>
          <p:cNvPr id="9" name="Shape 6"/>
          <p:cNvSpPr/>
          <p:nvPr/>
        </p:nvSpPr>
        <p:spPr>
          <a:xfrm>
            <a:off x="1901952" y="1115568"/>
            <a:ext cx="329184" cy="329184"/>
          </a:xfrm>
          <a:prstGeom prst="ellipse">
            <a:avLst/>
          </a:prstGeom>
          <a:solidFill>
            <a:srgbClr val="0E7C7B"/>
          </a:solidFill>
          <a:ln w="12700">
            <a:solidFill>
              <a:srgbClr val="0E7C7B"/>
            </a:solidFill>
            <a:prstDash val="solid"/>
          </a:ln>
        </p:spPr>
      </p:sp>
      <p:pic>
        <p:nvPicPr>
          <p:cNvPr id="10" name="Image 1" descr="preencoded.png">    </p:cNvPr>
          <p:cNvPicPr>
            <a:picLocks noChangeAspect="1"/>
          </p:cNvPicPr>
          <p:nvPr/>
        </p:nvPicPr>
        <p:blipFill>
          <a:blip r:embed="rId2"/>
          <a:stretch>
            <a:fillRect/>
          </a:stretch>
        </p:blipFill>
        <p:spPr>
          <a:xfrm>
            <a:off x="1980956" y="1194572"/>
            <a:ext cx="171176" cy="171176"/>
          </a:xfrm>
          <a:prstGeom prst="rect">
            <a:avLst/>
          </a:prstGeom>
        </p:spPr>
      </p:pic>
      <p:sp>
        <p:nvSpPr>
          <p:cNvPr id="11" name="Text 7"/>
          <p:cNvSpPr txBox="1"/>
          <p:nvPr/>
        </p:nvSpPr>
        <p:spPr>
          <a:xfrm>
            <a:off x="2286000" y="1115568"/>
            <a:ext cx="804672" cy="32918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Analyzer</a:t>
            </a:r>
            <a:endParaRPr lang="en-US" sz="1100" dirty="0"/>
          </a:p>
        </p:txBody>
      </p:sp>
      <p:sp>
        <p:nvSpPr>
          <p:cNvPr id="12" name="Text 8"/>
          <p:cNvSpPr txBox="1"/>
          <p:nvPr/>
        </p:nvSpPr>
        <p:spPr>
          <a:xfrm>
            <a:off x="1901952" y="1508760"/>
            <a:ext cx="1152144" cy="685800"/>
          </a:xfrm>
          <a:prstGeom prst="rect">
            <a:avLst/>
          </a:prstGeom>
          <a:noFill/>
          <a:ln/>
        </p:spPr>
        <p:txBody>
          <a:bodyPr wrap="square" lIns="0" tIns="0" rIns="0" bIns="0" rtlCol="0" anchor="t"/>
          <a:lstStyle/>
          <a:p>
            <a:pPr indent="0" marL="0">
              <a:buNone/>
            </a:pPr>
            <a:r>
              <a:rPr lang="en-US" sz="950" dirty="0">
                <a:solidFill>
                  <a:srgbClr val="1B2A3A"/>
                </a:solidFill>
                <a:latin typeface="Calibri" pitchFamily="34" charset="0"/>
                <a:ea typeface="Calibri" pitchFamily="34" charset="-122"/>
                <a:cs typeface="Calibri" pitchFamily="34" charset="-120"/>
              </a:rPr>
              <a:t>type, urgency, deadline, quality need</a:t>
            </a:r>
            <a:endParaRPr lang="en-US" sz="950" dirty="0"/>
          </a:p>
        </p:txBody>
      </p:sp>
      <p:sp>
        <p:nvSpPr>
          <p:cNvPr id="13" name="Shape 9"/>
          <p:cNvSpPr/>
          <p:nvPr/>
        </p:nvSpPr>
        <p:spPr>
          <a:xfrm>
            <a:off x="3200400" y="1051560"/>
            <a:ext cx="1280160" cy="1188720"/>
          </a:xfrm>
          <a:prstGeom prst="roundRect">
            <a:avLst>
              <a:gd name="adj" fmla="val 6154"/>
            </a:avLst>
          </a:prstGeom>
          <a:solidFill>
            <a:srgbClr val="F3F6F9"/>
          </a:solidFill>
          <a:ln w="12700">
            <a:solidFill>
              <a:srgbClr val="F3F6F9"/>
            </a:solidFill>
            <a:prstDash val="solid"/>
          </a:ln>
        </p:spPr>
      </p:sp>
      <p:sp>
        <p:nvSpPr>
          <p:cNvPr id="14" name="Shape 10"/>
          <p:cNvSpPr/>
          <p:nvPr/>
        </p:nvSpPr>
        <p:spPr>
          <a:xfrm>
            <a:off x="3273552" y="1115568"/>
            <a:ext cx="329184" cy="329184"/>
          </a:xfrm>
          <a:prstGeom prst="ellipse">
            <a:avLst/>
          </a:prstGeom>
          <a:solidFill>
            <a:srgbClr val="0E7C7B"/>
          </a:solidFill>
          <a:ln w="12700">
            <a:solidFill>
              <a:srgbClr val="0E7C7B"/>
            </a:solidFill>
            <a:prstDash val="solid"/>
          </a:ln>
        </p:spPr>
      </p:sp>
      <p:pic>
        <p:nvPicPr>
          <p:cNvPr id="15" name="Image 2" descr="preencoded.png">    </p:cNvPr>
          <p:cNvPicPr>
            <a:picLocks noChangeAspect="1"/>
          </p:cNvPicPr>
          <p:nvPr/>
        </p:nvPicPr>
        <p:blipFill>
          <a:blip r:embed="rId3"/>
          <a:stretch>
            <a:fillRect/>
          </a:stretch>
        </p:blipFill>
        <p:spPr>
          <a:xfrm>
            <a:off x="3352556" y="1194572"/>
            <a:ext cx="171176" cy="171176"/>
          </a:xfrm>
          <a:prstGeom prst="rect">
            <a:avLst/>
          </a:prstGeom>
        </p:spPr>
      </p:pic>
      <p:sp>
        <p:nvSpPr>
          <p:cNvPr id="16" name="Text 11"/>
          <p:cNvSpPr txBox="1"/>
          <p:nvPr/>
        </p:nvSpPr>
        <p:spPr>
          <a:xfrm>
            <a:off x="3657600" y="1115568"/>
            <a:ext cx="804672" cy="32918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Context</a:t>
            </a:r>
            <a:endParaRPr lang="en-US" sz="1100" dirty="0"/>
          </a:p>
        </p:txBody>
      </p:sp>
      <p:sp>
        <p:nvSpPr>
          <p:cNvPr id="17" name="Text 12"/>
          <p:cNvSpPr txBox="1"/>
          <p:nvPr/>
        </p:nvSpPr>
        <p:spPr>
          <a:xfrm>
            <a:off x="3273552" y="1508760"/>
            <a:ext cx="1152144" cy="685800"/>
          </a:xfrm>
          <a:prstGeom prst="rect">
            <a:avLst/>
          </a:prstGeom>
          <a:noFill/>
          <a:ln/>
        </p:spPr>
        <p:txBody>
          <a:bodyPr wrap="square" lIns="0" tIns="0" rIns="0" bIns="0" rtlCol="0" anchor="t"/>
          <a:lstStyle/>
          <a:p>
            <a:pPr indent="0" marL="0">
              <a:buNone/>
            </a:pPr>
            <a:r>
              <a:rPr lang="en-US" sz="950" dirty="0">
                <a:solidFill>
                  <a:srgbClr val="1B2A3A"/>
                </a:solidFill>
                <a:latin typeface="Calibri" pitchFamily="34" charset="0"/>
                <a:ea typeface="Calibri" pitchFamily="34" charset="-122"/>
                <a:cs typeface="Calibri" pitchFamily="34" charset="-120"/>
              </a:rPr>
              <a:t>features + channel SNR</a:t>
            </a:r>
            <a:endParaRPr lang="en-US" sz="950" dirty="0"/>
          </a:p>
        </p:txBody>
      </p:sp>
      <p:sp>
        <p:nvSpPr>
          <p:cNvPr id="18" name="Shape 13"/>
          <p:cNvSpPr/>
          <p:nvPr/>
        </p:nvSpPr>
        <p:spPr>
          <a:xfrm>
            <a:off x="4572000" y="1051560"/>
            <a:ext cx="1280160" cy="1188720"/>
          </a:xfrm>
          <a:prstGeom prst="roundRect">
            <a:avLst>
              <a:gd name="adj" fmla="val 6154"/>
            </a:avLst>
          </a:prstGeom>
          <a:solidFill>
            <a:srgbClr val="F3F6F9"/>
          </a:solidFill>
          <a:ln w="12700">
            <a:solidFill>
              <a:srgbClr val="F3F6F9"/>
            </a:solidFill>
            <a:prstDash val="solid"/>
          </a:ln>
        </p:spPr>
      </p:sp>
      <p:sp>
        <p:nvSpPr>
          <p:cNvPr id="19" name="Shape 14"/>
          <p:cNvSpPr/>
          <p:nvPr/>
        </p:nvSpPr>
        <p:spPr>
          <a:xfrm>
            <a:off x="4645152" y="1115568"/>
            <a:ext cx="329184" cy="329184"/>
          </a:xfrm>
          <a:prstGeom prst="ellipse">
            <a:avLst/>
          </a:prstGeom>
          <a:solidFill>
            <a:srgbClr val="0E7C7B"/>
          </a:solidFill>
          <a:ln w="12700">
            <a:solidFill>
              <a:srgbClr val="0E7C7B"/>
            </a:solidFill>
            <a:prstDash val="solid"/>
          </a:ln>
        </p:spPr>
      </p:sp>
      <p:pic>
        <p:nvPicPr>
          <p:cNvPr id="20" name="Image 3" descr="preencoded.png">    </p:cNvPr>
          <p:cNvPicPr>
            <a:picLocks noChangeAspect="1"/>
          </p:cNvPicPr>
          <p:nvPr/>
        </p:nvPicPr>
        <p:blipFill>
          <a:blip r:embed="rId4"/>
          <a:stretch>
            <a:fillRect/>
          </a:stretch>
        </p:blipFill>
        <p:spPr>
          <a:xfrm>
            <a:off x="4724156" y="1194572"/>
            <a:ext cx="171176" cy="171176"/>
          </a:xfrm>
          <a:prstGeom prst="rect">
            <a:avLst/>
          </a:prstGeom>
        </p:spPr>
      </p:pic>
      <p:sp>
        <p:nvSpPr>
          <p:cNvPr id="21" name="Text 15"/>
          <p:cNvSpPr txBox="1"/>
          <p:nvPr/>
        </p:nvSpPr>
        <p:spPr>
          <a:xfrm>
            <a:off x="5029200" y="1115568"/>
            <a:ext cx="804672" cy="32918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Policy</a:t>
            </a:r>
            <a:endParaRPr lang="en-US" sz="1100" dirty="0"/>
          </a:p>
        </p:txBody>
      </p:sp>
      <p:sp>
        <p:nvSpPr>
          <p:cNvPr id="22" name="Text 16"/>
          <p:cNvSpPr txBox="1"/>
          <p:nvPr/>
        </p:nvSpPr>
        <p:spPr>
          <a:xfrm>
            <a:off x="4645152" y="1508760"/>
            <a:ext cx="1152144" cy="685800"/>
          </a:xfrm>
          <a:prstGeom prst="rect">
            <a:avLst/>
          </a:prstGeom>
          <a:noFill/>
          <a:ln/>
        </p:spPr>
        <p:txBody>
          <a:bodyPr wrap="square" lIns="0" tIns="0" rIns="0" bIns="0" rtlCol="0" anchor="t"/>
          <a:lstStyle/>
          <a:p>
            <a:pPr indent="0" marL="0">
              <a:buNone/>
            </a:pPr>
            <a:r>
              <a:rPr lang="en-US" sz="950" dirty="0">
                <a:solidFill>
                  <a:srgbClr val="1B2A3A"/>
                </a:solidFill>
                <a:latin typeface="Calibri" pitchFamily="34" charset="0"/>
                <a:ea typeface="Calibri" pitchFamily="34" charset="-122"/>
                <a:cs typeface="Calibri" pitchFamily="34" charset="-120"/>
              </a:rPr>
              <a:t>trained LinUCB picks the mode</a:t>
            </a:r>
            <a:endParaRPr lang="en-US" sz="950" dirty="0"/>
          </a:p>
        </p:txBody>
      </p:sp>
      <p:sp>
        <p:nvSpPr>
          <p:cNvPr id="23" name="Shape 17"/>
          <p:cNvSpPr/>
          <p:nvPr/>
        </p:nvSpPr>
        <p:spPr>
          <a:xfrm>
            <a:off x="5943600" y="1051560"/>
            <a:ext cx="1280160" cy="1188720"/>
          </a:xfrm>
          <a:prstGeom prst="roundRect">
            <a:avLst>
              <a:gd name="adj" fmla="val 6154"/>
            </a:avLst>
          </a:prstGeom>
          <a:solidFill>
            <a:srgbClr val="F3F6F9"/>
          </a:solidFill>
          <a:ln w="12700">
            <a:solidFill>
              <a:srgbClr val="F3F6F9"/>
            </a:solidFill>
            <a:prstDash val="solid"/>
          </a:ln>
        </p:spPr>
      </p:sp>
      <p:sp>
        <p:nvSpPr>
          <p:cNvPr id="24" name="Shape 18"/>
          <p:cNvSpPr/>
          <p:nvPr/>
        </p:nvSpPr>
        <p:spPr>
          <a:xfrm>
            <a:off x="6016752" y="1115568"/>
            <a:ext cx="329184" cy="329184"/>
          </a:xfrm>
          <a:prstGeom prst="ellipse">
            <a:avLst/>
          </a:prstGeom>
          <a:solidFill>
            <a:srgbClr val="0E7C7B"/>
          </a:solidFill>
          <a:ln w="12700">
            <a:solidFill>
              <a:srgbClr val="0E7C7B"/>
            </a:solidFill>
            <a:prstDash val="solid"/>
          </a:ln>
        </p:spPr>
      </p:sp>
      <p:pic>
        <p:nvPicPr>
          <p:cNvPr id="25" name="Image 4" descr="preencoded.png">    </p:cNvPr>
          <p:cNvPicPr>
            <a:picLocks noChangeAspect="1"/>
          </p:cNvPicPr>
          <p:nvPr/>
        </p:nvPicPr>
        <p:blipFill>
          <a:blip r:embed="rId5"/>
          <a:stretch>
            <a:fillRect/>
          </a:stretch>
        </p:blipFill>
        <p:spPr>
          <a:xfrm>
            <a:off x="6095756" y="1194572"/>
            <a:ext cx="171176" cy="171176"/>
          </a:xfrm>
          <a:prstGeom prst="rect">
            <a:avLst/>
          </a:prstGeom>
        </p:spPr>
      </p:pic>
      <p:sp>
        <p:nvSpPr>
          <p:cNvPr id="26" name="Text 19"/>
          <p:cNvSpPr txBox="1"/>
          <p:nvPr/>
        </p:nvSpPr>
        <p:spPr>
          <a:xfrm>
            <a:off x="6400800" y="1115568"/>
            <a:ext cx="804672" cy="32918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Send</a:t>
            </a:r>
            <a:endParaRPr lang="en-US" sz="1100" dirty="0"/>
          </a:p>
        </p:txBody>
      </p:sp>
      <p:sp>
        <p:nvSpPr>
          <p:cNvPr id="27" name="Text 20"/>
          <p:cNvSpPr txBox="1"/>
          <p:nvPr/>
        </p:nvSpPr>
        <p:spPr>
          <a:xfrm>
            <a:off x="6016752" y="1508760"/>
            <a:ext cx="1152144" cy="685800"/>
          </a:xfrm>
          <a:prstGeom prst="rect">
            <a:avLst/>
          </a:prstGeom>
          <a:noFill/>
          <a:ln/>
        </p:spPr>
        <p:txBody>
          <a:bodyPr wrap="square" lIns="0" tIns="0" rIns="0" bIns="0" rtlCol="0" anchor="t"/>
          <a:lstStyle/>
          <a:p>
            <a:pPr indent="0" marL="0">
              <a:buNone/>
            </a:pPr>
            <a:r>
              <a:rPr lang="en-US" sz="950" dirty="0">
                <a:solidFill>
                  <a:srgbClr val="1B2A3A"/>
                </a:solidFill>
                <a:latin typeface="Calibri" pitchFamily="34" charset="0"/>
                <a:ea typeface="Calibri" pitchFamily="34" charset="-122"/>
                <a:cs typeface="Calibri" pitchFamily="34" charset="-120"/>
              </a:rPr>
              <a:t>bit, semantic or compressed</a:t>
            </a:r>
            <a:endParaRPr lang="en-US" sz="950" dirty="0"/>
          </a:p>
        </p:txBody>
      </p:sp>
      <p:sp>
        <p:nvSpPr>
          <p:cNvPr id="28" name="Shape 21"/>
          <p:cNvSpPr/>
          <p:nvPr/>
        </p:nvSpPr>
        <p:spPr>
          <a:xfrm>
            <a:off x="7315200" y="1051560"/>
            <a:ext cx="1280160" cy="1188720"/>
          </a:xfrm>
          <a:prstGeom prst="roundRect">
            <a:avLst>
              <a:gd name="adj" fmla="val 6154"/>
            </a:avLst>
          </a:prstGeom>
          <a:solidFill>
            <a:srgbClr val="F3F6F9"/>
          </a:solidFill>
          <a:ln w="12700">
            <a:solidFill>
              <a:srgbClr val="F3F6F9"/>
            </a:solidFill>
            <a:prstDash val="solid"/>
          </a:ln>
        </p:spPr>
      </p:sp>
      <p:sp>
        <p:nvSpPr>
          <p:cNvPr id="29" name="Shape 22"/>
          <p:cNvSpPr/>
          <p:nvPr/>
        </p:nvSpPr>
        <p:spPr>
          <a:xfrm>
            <a:off x="7388352" y="1115568"/>
            <a:ext cx="329184" cy="329184"/>
          </a:xfrm>
          <a:prstGeom prst="ellipse">
            <a:avLst/>
          </a:prstGeom>
          <a:solidFill>
            <a:srgbClr val="0E7C7B"/>
          </a:solidFill>
          <a:ln w="12700">
            <a:solidFill>
              <a:srgbClr val="0E7C7B"/>
            </a:solidFill>
            <a:prstDash val="solid"/>
          </a:ln>
        </p:spPr>
      </p:sp>
      <p:pic>
        <p:nvPicPr>
          <p:cNvPr id="30" name="Image 5" descr="preencoded.png">    </p:cNvPr>
          <p:cNvPicPr>
            <a:picLocks noChangeAspect="1"/>
          </p:cNvPicPr>
          <p:nvPr/>
        </p:nvPicPr>
        <p:blipFill>
          <a:blip r:embed="rId6"/>
          <a:stretch>
            <a:fillRect/>
          </a:stretch>
        </p:blipFill>
        <p:spPr>
          <a:xfrm>
            <a:off x="7467356" y="1194572"/>
            <a:ext cx="171176" cy="171176"/>
          </a:xfrm>
          <a:prstGeom prst="rect">
            <a:avLst/>
          </a:prstGeom>
        </p:spPr>
      </p:pic>
      <p:sp>
        <p:nvSpPr>
          <p:cNvPr id="31" name="Text 23"/>
          <p:cNvSpPr txBox="1"/>
          <p:nvPr/>
        </p:nvSpPr>
        <p:spPr>
          <a:xfrm>
            <a:off x="7772400" y="1115568"/>
            <a:ext cx="804672" cy="329184"/>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Receiver</a:t>
            </a:r>
            <a:endParaRPr lang="en-US" sz="1100" dirty="0"/>
          </a:p>
        </p:txBody>
      </p:sp>
      <p:sp>
        <p:nvSpPr>
          <p:cNvPr id="32" name="Text 24"/>
          <p:cNvSpPr txBox="1"/>
          <p:nvPr/>
        </p:nvSpPr>
        <p:spPr>
          <a:xfrm>
            <a:off x="7388352" y="1508760"/>
            <a:ext cx="1152144" cy="685800"/>
          </a:xfrm>
          <a:prstGeom prst="rect">
            <a:avLst/>
          </a:prstGeom>
          <a:noFill/>
          <a:ln/>
        </p:spPr>
        <p:txBody>
          <a:bodyPr wrap="square" lIns="0" tIns="0" rIns="0" bIns="0" rtlCol="0" anchor="t"/>
          <a:lstStyle/>
          <a:p>
            <a:pPr indent="0" marL="0">
              <a:buNone/>
            </a:pPr>
            <a:r>
              <a:rPr lang="en-US" sz="950" dirty="0">
                <a:solidFill>
                  <a:srgbClr val="1B2A3A"/>
                </a:solidFill>
                <a:latin typeface="Calibri" pitchFamily="34" charset="0"/>
                <a:ea typeface="Calibri" pitchFamily="34" charset="-122"/>
                <a:cs typeface="Calibri" pitchFamily="34" charset="-120"/>
              </a:rPr>
              <a:t>quality, deadline, reward</a:t>
            </a:r>
            <a:endParaRPr lang="en-US" sz="950" dirty="0"/>
          </a:p>
        </p:txBody>
      </p:sp>
      <p:sp>
        <p:nvSpPr>
          <p:cNvPr id="33" name="Text 25"/>
          <p:cNvSpPr txBox="1"/>
          <p:nvPr/>
        </p:nvSpPr>
        <p:spPr>
          <a:xfrm>
            <a:off x="457200" y="2377440"/>
            <a:ext cx="5394960" cy="274320"/>
          </a:xfrm>
          <a:prstGeom prst="rect">
            <a:avLst/>
          </a:prstGeom>
          <a:noFill/>
          <a:ln/>
        </p:spPr>
        <p:txBody>
          <a:bodyPr wrap="square" lIns="0" tIns="0" rIns="0" bIns="0"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Same message, four channel qualities: “Survey image shows flooded road near bridge,...”</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5394960" cy="914400"/>
        </p:xfrm>
        <a:graphic>
          <a:graphicData uri="http://schemas.openxmlformats.org/drawingml/2006/table">
            <a:tbl>
              <a:tblPr/>
              <a:tblGrid>
                <a:gridCol w="960120"/>
                <a:gridCol w="1143000"/>
                <a:gridCol w="1005840"/>
                <a:gridCol w="777240"/>
                <a:gridCol w="1508760"/>
              </a:tblGrid>
              <a:tr h="31089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Channel SNR</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226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Mode chosen</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226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Bytes sent</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226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Quality</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2263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Outcome</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2263F"/>
                    </a:solidFill>
                  </a:tcPr>
                </a:tc>
              </a:tr>
              <a:tr h="310896">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0 dB</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b="1" dirty="0">
                          <a:solidFill>
                            <a:srgbClr val="1B2A3A"/>
                          </a:solidFill>
                          <a:latin typeface="Calibri" pitchFamily="34" charset="0"/>
                          <a:ea typeface="Calibri" pitchFamily="34" charset="-122"/>
                          <a:cs typeface="Calibri" pitchFamily="34" charset="-120"/>
                        </a:rPr>
                        <a:t>bit</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76 of 76</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D1495B"/>
                          </a:solidFill>
                          <a:latin typeface="Calibri" pitchFamily="34" charset="0"/>
                          <a:ea typeface="Calibri" pitchFamily="34" charset="-122"/>
                          <a:cs typeface="Calibri" pitchFamily="34" charset="-120"/>
                        </a:rPr>
                        <a:t>failed (packet lost)</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r>
              <a:tr h="310896">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10 dB</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b="1" dirty="0">
                          <a:solidFill>
                            <a:srgbClr val="1B2A3A"/>
                          </a:solidFill>
                          <a:latin typeface="Calibri" pitchFamily="34" charset="0"/>
                          <a:ea typeface="Calibri" pitchFamily="34" charset="-122"/>
                          <a:cs typeface="Calibri" pitchFamily="34" charset="-120"/>
                        </a:rPr>
                        <a:t>bit</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76 of 76</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0E7C7B"/>
                          </a:solidFill>
                          <a:latin typeface="Calibri" pitchFamily="34" charset="0"/>
                          <a:ea typeface="Calibri" pitchFamily="34" charset="-122"/>
                          <a:cs typeface="Calibri" pitchFamily="34" charset="-120"/>
                        </a:rPr>
                        <a:t>success</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r>
              <a:tr h="310896">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20 dB</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b="1" dirty="0">
                          <a:solidFill>
                            <a:srgbClr val="1B2A3A"/>
                          </a:solidFill>
                          <a:latin typeface="Calibri" pitchFamily="34" charset="0"/>
                          <a:ea typeface="Calibri" pitchFamily="34" charset="-122"/>
                          <a:cs typeface="Calibri" pitchFamily="34" charset="-120"/>
                        </a:rPr>
                        <a:t>semantic</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63 of 76</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0.78</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0E7C7B"/>
                          </a:solidFill>
                          <a:latin typeface="Calibri" pitchFamily="34" charset="0"/>
                          <a:ea typeface="Calibri" pitchFamily="34" charset="-122"/>
                          <a:cs typeface="Calibri" pitchFamily="34" charset="-120"/>
                        </a:rPr>
                        <a:t>success</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r>
              <a:tr h="310896">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28 dB</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b="1" dirty="0">
                          <a:solidFill>
                            <a:srgbClr val="1B2A3A"/>
                          </a:solidFill>
                          <a:latin typeface="Calibri" pitchFamily="34" charset="0"/>
                          <a:ea typeface="Calibri" pitchFamily="34" charset="-122"/>
                          <a:cs typeface="Calibri" pitchFamily="34" charset="-120"/>
                        </a:rPr>
                        <a:t>semantic</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63 of 76</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1B2A3A"/>
                          </a:solidFill>
                          <a:latin typeface="Calibri" pitchFamily="34" charset="0"/>
                          <a:ea typeface="Calibri" pitchFamily="34" charset="-122"/>
                          <a:cs typeface="Calibri" pitchFamily="34" charset="-120"/>
                        </a:rPr>
                        <a:t>0.78</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c>
                  <a:txBody>
                    <a:bodyPr/>
                    <a:lstStyle/>
                    <a:p>
                      <a:pPr algn="l" indent="0" marL="0">
                        <a:buNone/>
                      </a:pPr>
                      <a:r>
                        <a:rPr lang="en-US" sz="1050" dirty="0">
                          <a:solidFill>
                            <a:srgbClr val="0E7C7B"/>
                          </a:solidFill>
                          <a:latin typeface="Calibri" pitchFamily="34" charset="0"/>
                          <a:ea typeface="Calibri" pitchFamily="34" charset="-122"/>
                          <a:cs typeface="Calibri" pitchFamily="34" charset="-120"/>
                        </a:rPr>
                        <a:t>success</a:t>
                      </a:r>
                      <a:endParaRPr lang="en-US" sz="1050" dirty="0">
                        <a:latin typeface="Calibri" charset="0"/>
                        <a:ea typeface="Calibri" charset="0"/>
                        <a:cs typeface="Calibri" charset="0"/>
                      </a:endParaRPr>
                    </a:p>
                  </a:txBody>
                  <a:tcPr marL="73152" marR="73152" marT="27432" marB="27432">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6F9"/>
                    </a:solidFill>
                  </a:tcPr>
                </a:tc>
              </a:tr>
            </a:tbl>
          </a:graphicData>
        </a:graphic>
      </p:graphicFrame>
      <p:sp>
        <p:nvSpPr>
          <p:cNvPr id="35" name="Text 26"/>
          <p:cNvSpPr txBox="1"/>
          <p:nvPr/>
        </p:nvSpPr>
        <p:spPr>
          <a:xfrm>
            <a:off x="457200" y="4343400"/>
            <a:ext cx="5394960" cy="365760"/>
          </a:xfrm>
          <a:prstGeom prst="rect">
            <a:avLst/>
          </a:prstGeom>
          <a:noFill/>
          <a:ln/>
        </p:spPr>
        <p:txBody>
          <a:bodyPr wrap="square" lIns="0" tIns="0" rIns="0" bIns="0" rtlCol="0" anchor="t"/>
          <a:lstStyle/>
          <a:p>
            <a:pPr indent="0" marL="0">
              <a:buNone/>
            </a:pPr>
            <a:r>
              <a:rPr lang="en-US" sz="1000" dirty="0">
                <a:solidFill>
                  <a:srgbClr val="1B2A3A"/>
                </a:solidFill>
                <a:latin typeface="Calibri" pitchFamily="34" charset="0"/>
                <a:ea typeface="Calibri" pitchFamily="34" charset="-122"/>
                <a:cs typeface="Calibri" pitchFamily="34" charset="-120"/>
              </a:rPr>
              <a:t>Weak channel: bit is still the best gamble, but it can be lost. Good channel: semantic saves bytes and energy at enough quality.</a:t>
            </a:r>
            <a:endParaRPr lang="en-US" sz="1000" dirty="0"/>
          </a:p>
        </p:txBody>
      </p:sp>
      <p:sp>
        <p:nvSpPr>
          <p:cNvPr id="36" name="Shape 27"/>
          <p:cNvSpPr/>
          <p:nvPr/>
        </p:nvSpPr>
        <p:spPr>
          <a:xfrm>
            <a:off x="6035040" y="2377440"/>
            <a:ext cx="2651760" cy="2286000"/>
          </a:xfrm>
          <a:prstGeom prst="roundRect">
            <a:avLst>
              <a:gd name="adj" fmla="val 3200"/>
            </a:avLst>
          </a:prstGeom>
          <a:solidFill>
            <a:srgbClr val="0F1E2E"/>
          </a:solidFill>
          <a:ln w="12700">
            <a:solidFill>
              <a:srgbClr val="0F1E2E"/>
            </a:solidFill>
            <a:prstDash val="solid"/>
          </a:ln>
        </p:spPr>
      </p:sp>
      <p:sp>
        <p:nvSpPr>
          <p:cNvPr id="37" name="Text 28"/>
          <p:cNvSpPr txBox="1"/>
          <p:nvPr/>
        </p:nvSpPr>
        <p:spPr>
          <a:xfrm>
            <a:off x="6144768" y="2450592"/>
            <a:ext cx="2468880" cy="2148840"/>
          </a:xfrm>
          <a:prstGeom prst="rect">
            <a:avLst/>
          </a:prstGeom>
          <a:noFill/>
          <a:ln/>
        </p:spPr>
        <p:txBody>
          <a:bodyPr wrap="square" lIns="0" tIns="0" rIns="0" bIns="0" rtlCol="0" anchor="t"/>
          <a:lstStyle/>
          <a:p>
            <a:pPr indent="0" marL="0">
              <a:buNone/>
            </a:pPr>
            <a:r>
              <a:rPr lang="en-US" sz="1100" b="1" dirty="0">
                <a:solidFill>
                  <a:srgbClr val="E0A458"/>
                </a:solidFill>
                <a:latin typeface="Courier New" pitchFamily="34" charset="0"/>
                <a:ea typeface="Courier New" pitchFamily="34" charset="-122"/>
                <a:cs typeface="Courier New" pitchFamily="34" charset="-120"/>
              </a:rPr>
              <a:t>Try it yourself</a:t>
            </a:r>
            <a:endParaRPr lang="en-US" sz="950" dirty="0"/>
          </a:p>
          <a:p>
            <a:pPr indent="0" marL="0">
              <a:buNone/>
            </a:pPr>
            <a:r>
              <a:rPr lang="en-US" sz="500" dirty="0">
                <a:solidFill>
                  <a:srgbClr val="D8E3EE"/>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D8E3EE"/>
                </a:solidFill>
                <a:latin typeface="Courier New" pitchFamily="34" charset="0"/>
                <a:ea typeface="Courier New" pitchFamily="34" charset="-122"/>
                <a:cs typeface="Courier New" pitchFamily="34" charset="-120"/>
              </a:rPr>
              <a:t>python send_message.py \</a:t>
            </a:r>
            <a:endParaRPr lang="en-US" sz="950" dirty="0"/>
          </a:p>
          <a:p>
            <a:pPr indent="0" marL="0">
              <a:buNone/>
            </a:pPr>
            <a:r>
              <a:rPr lang="en-US" sz="950" dirty="0">
                <a:solidFill>
                  <a:srgbClr val="D8E3EE"/>
                </a:solidFill>
                <a:latin typeface="Courier New" pitchFamily="34" charset="0"/>
                <a:ea typeface="Courier New" pitchFamily="34" charset="-122"/>
                <a:cs typeface="Courier New" pitchFamily="34" charset="-120"/>
              </a:rPr>
              <a:t>  "URGENT: obstacle ahead,</a:t>
            </a:r>
            <a:endParaRPr lang="en-US" sz="950" dirty="0"/>
          </a:p>
          <a:p>
            <a:pPr indent="0" marL="0">
              <a:buNone/>
            </a:pPr>
            <a:r>
              <a:rPr lang="en-US" sz="950" dirty="0">
                <a:solidFill>
                  <a:srgbClr val="D8E3EE"/>
                </a:solidFill>
                <a:latin typeface="Courier New" pitchFamily="34" charset="0"/>
                <a:ea typeface="Courier New" pitchFamily="34" charset="-122"/>
                <a:cs typeface="Courier New" pitchFamily="34" charset="-120"/>
              </a:rPr>
              <a:t>  reduce altitude to 40 m" \</a:t>
            </a:r>
            <a:endParaRPr lang="en-US" sz="950" dirty="0"/>
          </a:p>
          <a:p>
            <a:pPr indent="0" marL="0">
              <a:buNone/>
            </a:pPr>
            <a:r>
              <a:rPr lang="en-US" sz="950" dirty="0">
                <a:solidFill>
                  <a:srgbClr val="D8E3EE"/>
                </a:solidFill>
                <a:latin typeface="Courier New" pitchFamily="34" charset="0"/>
                <a:ea typeface="Courier New" pitchFamily="34" charset="-122"/>
                <a:cs typeface="Courier New" pitchFamily="34" charset="-120"/>
              </a:rPr>
              <a:t>  --snr 12 --compare</a:t>
            </a:r>
            <a:endParaRPr lang="en-US" sz="950" dirty="0"/>
          </a:p>
          <a:p>
            <a:pPr indent="0" marL="0">
              <a:buNone/>
            </a:pPr>
            <a:r>
              <a:rPr lang="en-US" sz="500" dirty="0">
                <a:solidFill>
                  <a:srgbClr val="D8E3EE"/>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D8E3EE"/>
                </a:solidFill>
                <a:latin typeface="Courier New" pitchFamily="34" charset="0"/>
                <a:ea typeface="Courier New" pitchFamily="34" charset="-122"/>
                <a:cs typeface="Courier New" pitchFamily="34" charset="-120"/>
              </a:rPr>
              <a:t>python send_message.py --interactive</a:t>
            </a:r>
            <a:endParaRPr lang="en-US" sz="950" dirty="0"/>
          </a:p>
          <a:p>
            <a:pPr indent="0" marL="0">
              <a:buNone/>
            </a:pPr>
            <a:r>
              <a:rPr lang="en-US" sz="500" dirty="0">
                <a:solidFill>
                  <a:srgbClr val="D8E3EE"/>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D8E3EE"/>
                </a:solidFill>
                <a:latin typeface="Courier New" pitchFamily="34" charset="0"/>
                <a:ea typeface="Courier New" pitchFamily="34" charset="-122"/>
                <a:cs typeface="Courier New" pitchFamily="34" charset="-120"/>
              </a:rPr>
              <a:t>python run_demo.py</a:t>
            </a:r>
            <a:endParaRPr lang="en-US" sz="950" dirty="0"/>
          </a:p>
        </p:txBody>
      </p:sp>
      <p:sp>
        <p:nvSpPr>
          <p:cNvPr id="38" name="Text 29"/>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Machine Learning (25SC2107E)  |  Project Review 2</a:t>
            </a:r>
            <a:endParaRPr lang="en-US" sz="900" dirty="0"/>
          </a:p>
        </p:txBody>
      </p:sp>
      <p:sp>
        <p:nvSpPr>
          <p:cNvPr id="39" name="Text 30"/>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Experimental setup</a:t>
            </a:r>
            <a:endParaRPr lang="en-US" sz="2600" dirty="0"/>
          </a:p>
        </p:txBody>
      </p:sp>
      <p:sp>
        <p:nvSpPr>
          <p:cNvPr id="3" name="Shape 1"/>
          <p:cNvSpPr/>
          <p:nvPr/>
        </p:nvSpPr>
        <p:spPr>
          <a:xfrm>
            <a:off x="457200" y="1097280"/>
            <a:ext cx="2606040" cy="3520440"/>
          </a:xfrm>
          <a:prstGeom prst="roundRect">
            <a:avLst>
              <a:gd name="adj" fmla="val 2807"/>
            </a:avLst>
          </a:prstGeom>
          <a:solidFill>
            <a:srgbClr val="F3F6F9"/>
          </a:solidFill>
          <a:ln w="12700">
            <a:solidFill>
              <a:srgbClr val="F3F6F9"/>
            </a:solidFill>
            <a:prstDash val="solid"/>
          </a:ln>
        </p:spPr>
      </p:sp>
      <p:sp>
        <p:nvSpPr>
          <p:cNvPr id="4" name="Shape 2"/>
          <p:cNvSpPr/>
          <p:nvPr/>
        </p:nvSpPr>
        <p:spPr>
          <a:xfrm>
            <a:off x="594360" y="1216152"/>
            <a:ext cx="457200" cy="457200"/>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704088" y="1325880"/>
            <a:ext cx="237744" cy="237744"/>
          </a:xfrm>
          <a:prstGeom prst="rect">
            <a:avLst/>
          </a:prstGeom>
        </p:spPr>
      </p:pic>
      <p:sp>
        <p:nvSpPr>
          <p:cNvPr id="6" name="Text 3"/>
          <p:cNvSpPr txBox="1"/>
          <p:nvPr/>
        </p:nvSpPr>
        <p:spPr>
          <a:xfrm>
            <a:off x="1170432" y="1216152"/>
            <a:ext cx="1737360" cy="457200"/>
          </a:xfrm>
          <a:prstGeom prst="rect">
            <a:avLst/>
          </a:prstGeom>
          <a:noFill/>
          <a:ln/>
        </p:spPr>
        <p:txBody>
          <a:bodyPr wrap="square" lIns="0" tIns="0" rIns="0" bIns="0" rtlCol="0" anchor="ctr"/>
          <a:lstStyle/>
          <a:p>
            <a:pPr indent="0" marL="0">
              <a:buNone/>
            </a:pPr>
            <a:r>
              <a:rPr lang="en-US" sz="1500" b="1" dirty="0">
                <a:solidFill>
                  <a:srgbClr val="12263F"/>
                </a:solidFill>
                <a:latin typeface="Calibri" pitchFamily="34" charset="0"/>
                <a:ea typeface="Calibri" pitchFamily="34" charset="-122"/>
                <a:cs typeface="Calibri" pitchFamily="34" charset="-120"/>
              </a:rPr>
              <a:t>Simulator</a:t>
            </a:r>
            <a:endParaRPr lang="en-US" sz="1500" dirty="0"/>
          </a:p>
        </p:txBody>
      </p:sp>
      <p:sp>
        <p:nvSpPr>
          <p:cNvPr id="7" name="Text 4"/>
          <p:cNvSpPr txBox="1"/>
          <p:nvPr/>
        </p:nvSpPr>
        <p:spPr>
          <a:xfrm>
            <a:off x="594360" y="1828800"/>
            <a:ext cx="2377440" cy="269748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Line-of-sight probability 0.6: SNR 15-30 dB, else -5 to 15 dB</a:t>
            </a:r>
            <a:endParaRPr lang="en-US" sz="1100" dirty="0"/>
          </a:p>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3 task types x 3 urgency classes, each with deadline and quality requirement</a:t>
            </a:r>
            <a:endParaRPr lang="en-US" sz="1100" dirty="0"/>
          </a:p>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Per-mode latency and energy; success needs quality and deadline</a:t>
            </a:r>
            <a:endParaRPr lang="en-US" sz="1100" dirty="0"/>
          </a:p>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Energy weight 2 (battery-limited UAV)</a:t>
            </a:r>
            <a:endParaRPr lang="en-US" sz="1100" dirty="0"/>
          </a:p>
        </p:txBody>
      </p:sp>
      <p:sp>
        <p:nvSpPr>
          <p:cNvPr id="8" name="Shape 5"/>
          <p:cNvSpPr/>
          <p:nvPr/>
        </p:nvSpPr>
        <p:spPr>
          <a:xfrm>
            <a:off x="3268980" y="1097280"/>
            <a:ext cx="2606040" cy="3520440"/>
          </a:xfrm>
          <a:prstGeom prst="roundRect">
            <a:avLst>
              <a:gd name="adj" fmla="val 2807"/>
            </a:avLst>
          </a:prstGeom>
          <a:solidFill>
            <a:srgbClr val="F3F6F9"/>
          </a:solidFill>
          <a:ln w="12700">
            <a:solidFill>
              <a:srgbClr val="F3F6F9"/>
            </a:solidFill>
            <a:prstDash val="solid"/>
          </a:ln>
        </p:spPr>
      </p:sp>
      <p:sp>
        <p:nvSpPr>
          <p:cNvPr id="9" name="Shape 6"/>
          <p:cNvSpPr/>
          <p:nvPr/>
        </p:nvSpPr>
        <p:spPr>
          <a:xfrm>
            <a:off x="3406140" y="1216152"/>
            <a:ext cx="457200" cy="457200"/>
          </a:xfrm>
          <a:prstGeom prst="ellipse">
            <a:avLst/>
          </a:prstGeom>
          <a:solidFill>
            <a:srgbClr val="0E7C7B"/>
          </a:solidFill>
          <a:ln w="12700">
            <a:solidFill>
              <a:srgbClr val="0E7C7B"/>
            </a:solidFill>
            <a:prstDash val="solid"/>
          </a:ln>
        </p:spPr>
      </p:sp>
      <p:pic>
        <p:nvPicPr>
          <p:cNvPr id="10" name="Image 1" descr="preencoded.png">    </p:cNvPr>
          <p:cNvPicPr>
            <a:picLocks noChangeAspect="1"/>
          </p:cNvPicPr>
          <p:nvPr/>
        </p:nvPicPr>
        <p:blipFill>
          <a:blip r:embed="rId2"/>
          <a:stretch>
            <a:fillRect/>
          </a:stretch>
        </p:blipFill>
        <p:spPr>
          <a:xfrm>
            <a:off x="3515868" y="1325880"/>
            <a:ext cx="237744" cy="237744"/>
          </a:xfrm>
          <a:prstGeom prst="rect">
            <a:avLst/>
          </a:prstGeom>
        </p:spPr>
      </p:pic>
      <p:sp>
        <p:nvSpPr>
          <p:cNvPr id="11" name="Text 7"/>
          <p:cNvSpPr txBox="1"/>
          <p:nvPr/>
        </p:nvSpPr>
        <p:spPr>
          <a:xfrm>
            <a:off x="3982212" y="1216152"/>
            <a:ext cx="1737360" cy="457200"/>
          </a:xfrm>
          <a:prstGeom prst="rect">
            <a:avLst/>
          </a:prstGeom>
          <a:noFill/>
          <a:ln/>
        </p:spPr>
        <p:txBody>
          <a:bodyPr wrap="square" lIns="0" tIns="0" rIns="0" bIns="0" rtlCol="0" anchor="ctr"/>
          <a:lstStyle/>
          <a:p>
            <a:pPr indent="0" marL="0">
              <a:buNone/>
            </a:pPr>
            <a:r>
              <a:rPr lang="en-US" sz="1500" b="1" dirty="0">
                <a:solidFill>
                  <a:srgbClr val="12263F"/>
                </a:solidFill>
                <a:latin typeface="Calibri" pitchFamily="34" charset="0"/>
                <a:ea typeface="Calibri" pitchFamily="34" charset="-122"/>
                <a:cs typeface="Calibri" pitchFamily="34" charset="-120"/>
              </a:rPr>
              <a:t>Two settings</a:t>
            </a:r>
            <a:endParaRPr lang="en-US" sz="1500" dirty="0"/>
          </a:p>
        </p:txBody>
      </p:sp>
      <p:sp>
        <p:nvSpPr>
          <p:cNvPr id="12" name="Text 8"/>
          <p:cNvSpPr txBox="1"/>
          <p:nvPr/>
        </p:nvSpPr>
        <p:spPr>
          <a:xfrm>
            <a:off x="3406140" y="1828800"/>
            <a:ext cx="2377440" cy="269748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A: memoryless. 6,000 tasks per run, 10 seeds</a:t>
            </a:r>
            <a:endParaRPr lang="en-US" sz="1100" dirty="0"/>
          </a:p>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B: battery-limited. 100 episodes x 200 tasks, battery budget 100 units, 5 seeds</a:t>
            </a:r>
            <a:endParaRPr lang="en-US" sz="1100" dirty="0"/>
          </a:p>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Battery empty means transmission fails</a:t>
            </a:r>
            <a:endParaRPr lang="en-US" sz="1100" dirty="0"/>
          </a:p>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Same information given to every learner</a:t>
            </a:r>
            <a:endParaRPr lang="en-US" sz="1100" dirty="0"/>
          </a:p>
        </p:txBody>
      </p:sp>
      <p:sp>
        <p:nvSpPr>
          <p:cNvPr id="13" name="Shape 9"/>
          <p:cNvSpPr/>
          <p:nvPr/>
        </p:nvSpPr>
        <p:spPr>
          <a:xfrm>
            <a:off x="6080760" y="1097280"/>
            <a:ext cx="2606040" cy="3520440"/>
          </a:xfrm>
          <a:prstGeom prst="roundRect">
            <a:avLst>
              <a:gd name="adj" fmla="val 2807"/>
            </a:avLst>
          </a:prstGeom>
          <a:solidFill>
            <a:srgbClr val="F3F6F9"/>
          </a:solidFill>
          <a:ln w="12700">
            <a:solidFill>
              <a:srgbClr val="F3F6F9"/>
            </a:solidFill>
            <a:prstDash val="solid"/>
          </a:ln>
        </p:spPr>
      </p:sp>
      <p:sp>
        <p:nvSpPr>
          <p:cNvPr id="14" name="Shape 10"/>
          <p:cNvSpPr/>
          <p:nvPr/>
        </p:nvSpPr>
        <p:spPr>
          <a:xfrm>
            <a:off x="6217920" y="1216152"/>
            <a:ext cx="457200" cy="457200"/>
          </a:xfrm>
          <a:prstGeom prst="ellipse">
            <a:avLst/>
          </a:prstGeom>
          <a:solidFill>
            <a:srgbClr val="0E7C7B"/>
          </a:solidFill>
          <a:ln w="12700">
            <a:solidFill>
              <a:srgbClr val="0E7C7B"/>
            </a:solidFill>
            <a:prstDash val="solid"/>
          </a:ln>
        </p:spPr>
      </p:sp>
      <p:pic>
        <p:nvPicPr>
          <p:cNvPr id="15" name="Image 2" descr="preencoded.png">    </p:cNvPr>
          <p:cNvPicPr>
            <a:picLocks noChangeAspect="1"/>
          </p:cNvPicPr>
          <p:nvPr/>
        </p:nvPicPr>
        <p:blipFill>
          <a:blip r:embed="rId3"/>
          <a:stretch>
            <a:fillRect/>
          </a:stretch>
        </p:blipFill>
        <p:spPr>
          <a:xfrm>
            <a:off x="6327648" y="1325880"/>
            <a:ext cx="237744" cy="237744"/>
          </a:xfrm>
          <a:prstGeom prst="rect">
            <a:avLst/>
          </a:prstGeom>
        </p:spPr>
      </p:pic>
      <p:sp>
        <p:nvSpPr>
          <p:cNvPr id="16" name="Text 11"/>
          <p:cNvSpPr txBox="1"/>
          <p:nvPr/>
        </p:nvSpPr>
        <p:spPr>
          <a:xfrm>
            <a:off x="6793992" y="1216152"/>
            <a:ext cx="1737360" cy="457200"/>
          </a:xfrm>
          <a:prstGeom prst="rect">
            <a:avLst/>
          </a:prstGeom>
          <a:noFill/>
          <a:ln/>
        </p:spPr>
        <p:txBody>
          <a:bodyPr wrap="square" lIns="0" tIns="0" rIns="0" bIns="0" rtlCol="0" anchor="ctr"/>
          <a:lstStyle/>
          <a:p>
            <a:pPr indent="0" marL="0">
              <a:buNone/>
            </a:pPr>
            <a:r>
              <a:rPr lang="en-US" sz="1500" b="1" dirty="0">
                <a:solidFill>
                  <a:srgbClr val="12263F"/>
                </a:solidFill>
                <a:latin typeface="Calibri" pitchFamily="34" charset="0"/>
                <a:ea typeface="Calibri" pitchFamily="34" charset="-122"/>
                <a:cs typeface="Calibri" pitchFamily="34" charset="-120"/>
              </a:rPr>
              <a:t>Compared</a:t>
            </a:r>
            <a:endParaRPr lang="en-US" sz="1500" dirty="0"/>
          </a:p>
        </p:txBody>
      </p:sp>
      <p:sp>
        <p:nvSpPr>
          <p:cNvPr id="17" name="Text 12"/>
          <p:cNvSpPr txBox="1"/>
          <p:nvPr/>
        </p:nvSpPr>
        <p:spPr>
          <a:xfrm>
            <a:off x="6217920" y="1828800"/>
            <a:ext cx="2377440" cy="269748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Baselines: always bit / semantic / compressed, random, threshold rule</a:t>
            </a:r>
            <a:endParaRPr lang="en-US" sz="1100" dirty="0"/>
          </a:p>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Learners: epsilon-greedy, LinUCB, Thompson Sampling, DQN</a:t>
            </a:r>
            <a:endParaRPr lang="en-US" sz="1100" dirty="0"/>
          </a:p>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Metrics: reward, regret vs oracle, success rate, latency, energy</a:t>
            </a:r>
            <a:endParaRPr lang="en-US" sz="1100" dirty="0"/>
          </a:p>
          <a:p>
            <a:pPr marL="177800" indent="-177800">
              <a:spcAft>
                <a:spcPts val="700"/>
              </a:spcAft>
              <a:buSzPct val="100000"/>
              <a:buChar char="•"/>
            </a:pPr>
            <a:r>
              <a:rPr lang="en-US" sz="1100" dirty="0">
                <a:solidFill>
                  <a:srgbClr val="1B2A3A"/>
                </a:solidFill>
                <a:latin typeface="Calibri" pitchFamily="34" charset="0"/>
                <a:ea typeface="Calibri" pitchFamily="34" charset="-122"/>
                <a:cs typeface="Calibri" pitchFamily="34" charset="-120"/>
              </a:rPr>
              <a:t>Oracle = best expected mode per task (upper bound)</a:t>
            </a:r>
            <a:endParaRPr lang="en-US" sz="1100" dirty="0"/>
          </a:p>
        </p:txBody>
      </p:sp>
      <p:sp>
        <p:nvSpPr>
          <p:cNvPr id="18" name="Text 13"/>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Machine Learning (25SC2107E)  |  Project Review 2</a:t>
            </a:r>
            <a:endParaRPr lang="en-US" sz="900" dirty="0"/>
          </a:p>
        </p:txBody>
      </p:sp>
      <p:sp>
        <p:nvSpPr>
          <p:cNvPr id="19" name="Text 14"/>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Result 1: learned policies beat all baselines</a:t>
            </a:r>
            <a:endParaRPr lang="en-US" sz="2600" dirty="0"/>
          </a:p>
        </p:txBody>
      </p:sp>
      <p:graphicFrame>
        <p:nvGraphicFramePr>
          <p:cNvPr id="3" name="Chart 0" descr=""/>
          <p:cNvGraphicFramePr/>
          <p:nvPr/>
        </p:nvGraphicFramePr>
        <p:xfrm>
          <a:off x="365760" y="960120"/>
          <a:ext cx="429768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754880" y="960120"/>
          <a:ext cx="3931920" cy="301752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457200" y="4041648"/>
            <a:ext cx="2606040" cy="685800"/>
          </a:xfrm>
          <a:prstGeom prst="roundRect">
            <a:avLst>
              <a:gd name="adj" fmla="val 10667"/>
            </a:avLst>
          </a:prstGeom>
          <a:solidFill>
            <a:srgbClr val="F3F6F9"/>
          </a:solidFill>
          <a:ln w="12700">
            <a:solidFill>
              <a:srgbClr val="F3F6F9"/>
            </a:solidFill>
            <a:prstDash val="solid"/>
          </a:ln>
        </p:spPr>
      </p:sp>
      <p:sp>
        <p:nvSpPr>
          <p:cNvPr id="6" name="Text 2"/>
          <p:cNvSpPr txBox="1"/>
          <p:nvPr/>
        </p:nvSpPr>
        <p:spPr>
          <a:xfrm>
            <a:off x="548640" y="4059936"/>
            <a:ext cx="914400" cy="640080"/>
          </a:xfrm>
          <a:prstGeom prst="rect">
            <a:avLst/>
          </a:prstGeom>
          <a:noFill/>
          <a:ln/>
        </p:spPr>
        <p:txBody>
          <a:bodyPr wrap="square" lIns="0" tIns="0" rIns="0" bIns="0" rtlCol="0" anchor="ctr"/>
          <a:lstStyle/>
          <a:p>
            <a:pPr indent="0" marL="0">
              <a:buNone/>
            </a:pPr>
            <a:r>
              <a:rPr lang="en-US" sz="1700" b="1" dirty="0">
                <a:solidFill>
                  <a:srgbClr val="0E7C7B"/>
                </a:solidFill>
                <a:latin typeface="Cambria" pitchFamily="34" charset="0"/>
                <a:ea typeface="Cambria" pitchFamily="34" charset="-122"/>
                <a:cs typeface="Cambria" pitchFamily="34" charset="-120"/>
              </a:rPr>
              <a:t>27%</a:t>
            </a:r>
            <a:endParaRPr lang="en-US" sz="1700" dirty="0"/>
          </a:p>
        </p:txBody>
      </p:sp>
      <p:sp>
        <p:nvSpPr>
          <p:cNvPr id="7" name="Text 3"/>
          <p:cNvSpPr txBox="1"/>
          <p:nvPr/>
        </p:nvSpPr>
        <p:spPr>
          <a:xfrm>
            <a:off x="1463040" y="4059936"/>
            <a:ext cx="1554480" cy="640080"/>
          </a:xfrm>
          <a:prstGeom prst="rect">
            <a:avLst/>
          </a:prstGeom>
          <a:noFill/>
          <a:ln/>
        </p:spPr>
        <p:txBody>
          <a:bodyPr wrap="square" lIns="0" tIns="0" rIns="0" bIns="0" rtlCol="0" anchor="ctr"/>
          <a:lstStyle/>
          <a:p>
            <a:pPr indent="0" marL="0">
              <a:buNone/>
            </a:pPr>
            <a:r>
              <a:rPr lang="en-US" sz="850" dirty="0">
                <a:solidFill>
                  <a:srgbClr val="1B2A3A"/>
                </a:solidFill>
                <a:latin typeface="Calibri" pitchFamily="34" charset="0"/>
                <a:ea typeface="Calibri" pitchFamily="34" charset="-122"/>
                <a:cs typeface="Calibri" pitchFamily="34" charset="-120"/>
              </a:rPr>
              <a:t>less regret than always-bit, lower in 10 of 10 seeds (paired t = -3.83)</a:t>
            </a:r>
            <a:endParaRPr lang="en-US" sz="850" dirty="0"/>
          </a:p>
        </p:txBody>
      </p:sp>
      <p:sp>
        <p:nvSpPr>
          <p:cNvPr id="8" name="Shape 4"/>
          <p:cNvSpPr/>
          <p:nvPr/>
        </p:nvSpPr>
        <p:spPr>
          <a:xfrm>
            <a:off x="3268980" y="4041648"/>
            <a:ext cx="2606040" cy="685800"/>
          </a:xfrm>
          <a:prstGeom prst="roundRect">
            <a:avLst>
              <a:gd name="adj" fmla="val 10667"/>
            </a:avLst>
          </a:prstGeom>
          <a:solidFill>
            <a:srgbClr val="F3F6F9"/>
          </a:solidFill>
          <a:ln w="12700">
            <a:solidFill>
              <a:srgbClr val="F3F6F9"/>
            </a:solidFill>
            <a:prstDash val="solid"/>
          </a:ln>
        </p:spPr>
      </p:sp>
      <p:sp>
        <p:nvSpPr>
          <p:cNvPr id="9" name="Text 5"/>
          <p:cNvSpPr txBox="1"/>
          <p:nvPr/>
        </p:nvSpPr>
        <p:spPr>
          <a:xfrm>
            <a:off x="3360420" y="4059936"/>
            <a:ext cx="914400" cy="640080"/>
          </a:xfrm>
          <a:prstGeom prst="rect">
            <a:avLst/>
          </a:prstGeom>
          <a:noFill/>
          <a:ln/>
        </p:spPr>
        <p:txBody>
          <a:bodyPr wrap="square" lIns="0" tIns="0" rIns="0" bIns="0" rtlCol="0" anchor="ctr"/>
          <a:lstStyle/>
          <a:p>
            <a:pPr indent="0" marL="0">
              <a:buNone/>
            </a:pPr>
            <a:r>
              <a:rPr lang="en-US" sz="1700" b="1" dirty="0">
                <a:solidFill>
                  <a:srgbClr val="0E7C7B"/>
                </a:solidFill>
                <a:latin typeface="Cambria" pitchFamily="34" charset="0"/>
                <a:ea typeface="Cambria" pitchFamily="34" charset="-122"/>
                <a:cs typeface="Cambria" pitchFamily="34" charset="-120"/>
              </a:rPr>
              <a:t>76.0%</a:t>
            </a:r>
            <a:endParaRPr lang="en-US" sz="1700" dirty="0"/>
          </a:p>
        </p:txBody>
      </p:sp>
      <p:sp>
        <p:nvSpPr>
          <p:cNvPr id="10" name="Text 6"/>
          <p:cNvSpPr txBox="1"/>
          <p:nvPr/>
        </p:nvSpPr>
        <p:spPr>
          <a:xfrm>
            <a:off x="4274820" y="4059936"/>
            <a:ext cx="1554480" cy="640080"/>
          </a:xfrm>
          <a:prstGeom prst="rect">
            <a:avLst/>
          </a:prstGeom>
          <a:noFill/>
          <a:ln/>
        </p:spPr>
        <p:txBody>
          <a:bodyPr wrap="square" lIns="0" tIns="0" rIns="0" bIns="0" rtlCol="0" anchor="ctr"/>
          <a:lstStyle/>
          <a:p>
            <a:pPr indent="0" marL="0">
              <a:buNone/>
            </a:pPr>
            <a:r>
              <a:rPr lang="en-US" sz="850" dirty="0">
                <a:solidFill>
                  <a:srgbClr val="1B2A3A"/>
                </a:solidFill>
                <a:latin typeface="Calibri" pitchFamily="34" charset="0"/>
                <a:ea typeface="Calibri" pitchFamily="34" charset="-122"/>
                <a:cs typeface="Calibri" pitchFamily="34" charset="-120"/>
              </a:rPr>
              <a:t>task success (always-bit 76.5%) with 9% less energy</a:t>
            </a:r>
            <a:endParaRPr lang="en-US" sz="850" dirty="0"/>
          </a:p>
        </p:txBody>
      </p:sp>
      <p:sp>
        <p:nvSpPr>
          <p:cNvPr id="11" name="Shape 7"/>
          <p:cNvSpPr/>
          <p:nvPr/>
        </p:nvSpPr>
        <p:spPr>
          <a:xfrm>
            <a:off x="6080760" y="4041648"/>
            <a:ext cx="2606040" cy="685800"/>
          </a:xfrm>
          <a:prstGeom prst="roundRect">
            <a:avLst>
              <a:gd name="adj" fmla="val 10667"/>
            </a:avLst>
          </a:prstGeom>
          <a:solidFill>
            <a:srgbClr val="F3F6F9"/>
          </a:solidFill>
          <a:ln w="12700">
            <a:solidFill>
              <a:srgbClr val="F3F6F9"/>
            </a:solidFill>
            <a:prstDash val="solid"/>
          </a:ln>
        </p:spPr>
      </p:sp>
      <p:sp>
        <p:nvSpPr>
          <p:cNvPr id="12" name="Text 8"/>
          <p:cNvSpPr txBox="1"/>
          <p:nvPr/>
        </p:nvSpPr>
        <p:spPr>
          <a:xfrm>
            <a:off x="6172200" y="4059936"/>
            <a:ext cx="914400" cy="640080"/>
          </a:xfrm>
          <a:prstGeom prst="rect">
            <a:avLst/>
          </a:prstGeom>
          <a:noFill/>
          <a:ln/>
        </p:spPr>
        <p:txBody>
          <a:bodyPr wrap="square" lIns="0" tIns="0" rIns="0" bIns="0" rtlCol="0" anchor="ctr"/>
          <a:lstStyle/>
          <a:p>
            <a:pPr indent="0" marL="0">
              <a:buNone/>
            </a:pPr>
            <a:r>
              <a:rPr lang="en-US" sz="1700" b="1" dirty="0">
                <a:solidFill>
                  <a:srgbClr val="D1495B"/>
                </a:solidFill>
                <a:latin typeface="Cambria" pitchFamily="34" charset="0"/>
                <a:ea typeface="Cambria" pitchFamily="34" charset="-122"/>
                <a:cs typeface="Cambria" pitchFamily="34" charset="-120"/>
              </a:rPr>
              <a:t>0.165</a:t>
            </a:r>
            <a:endParaRPr lang="en-US" sz="1700" dirty="0"/>
          </a:p>
        </p:txBody>
      </p:sp>
      <p:sp>
        <p:nvSpPr>
          <p:cNvPr id="13" name="Text 9"/>
          <p:cNvSpPr txBox="1"/>
          <p:nvPr/>
        </p:nvSpPr>
        <p:spPr>
          <a:xfrm>
            <a:off x="7086600" y="4059936"/>
            <a:ext cx="1554480" cy="640080"/>
          </a:xfrm>
          <a:prstGeom prst="rect">
            <a:avLst/>
          </a:prstGeom>
          <a:noFill/>
          <a:ln/>
        </p:spPr>
        <p:txBody>
          <a:bodyPr wrap="square" lIns="0" tIns="0" rIns="0" bIns="0" rtlCol="0" anchor="ctr"/>
          <a:lstStyle/>
          <a:p>
            <a:pPr indent="0" marL="0">
              <a:buNone/>
            </a:pPr>
            <a:r>
              <a:rPr lang="en-US" sz="850" dirty="0">
                <a:solidFill>
                  <a:srgbClr val="1B2A3A"/>
                </a:solidFill>
                <a:latin typeface="Calibri" pitchFamily="34" charset="0"/>
                <a:ea typeface="Calibri" pitchFamily="34" charset="-122"/>
                <a:cs typeface="Calibri" pitchFamily="34" charset="-120"/>
              </a:rPr>
              <a:t>DQN regret per task after 20,000 tasks (LinUCB 0.185, always-bit 0.270)</a:t>
            </a:r>
            <a:endParaRPr lang="en-US" sz="850" dirty="0"/>
          </a:p>
        </p:txBody>
      </p:sp>
      <p:sp>
        <p:nvSpPr>
          <p:cNvPr id="14" name="Text 10"/>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Machine Learning (25SC2107E)  |  Project Review 2</a:t>
            </a:r>
            <a:endParaRPr lang="en-US" sz="900" dirty="0"/>
          </a:p>
        </p:txBody>
      </p:sp>
      <p:sp>
        <p:nvSpPr>
          <p:cNvPr id="15" name="Text 11"/>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Result 2: what the policy learned</a:t>
            </a:r>
            <a:endParaRPr lang="en-US" sz="2600" dirty="0"/>
          </a:p>
        </p:txBody>
      </p:sp>
      <p:graphicFrame>
        <p:nvGraphicFramePr>
          <p:cNvPr id="3" name="Chart 0" descr=""/>
          <p:cNvGraphicFramePr/>
          <p:nvPr/>
        </p:nvGraphicFramePr>
        <p:xfrm>
          <a:off x="365760" y="1051560"/>
          <a:ext cx="420624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51560"/>
          <a:ext cx="4023360" cy="29260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023360"/>
            <a:ext cx="8229600" cy="731520"/>
          </a:xfrm>
          <a:prstGeom prst="rect">
            <a:avLst/>
          </a:prstGeom>
          <a:noFill/>
          <a:ln/>
        </p:spPr>
        <p:txBody>
          <a:bodyPr wrap="square" lIns="0" tIns="0" rIns="0" bIns="0" rtlCol="0" anchor="t"/>
          <a:lstStyle/>
          <a:p>
            <a:pPr indent="0" marL="0">
              <a:buNone/>
            </a:pPr>
            <a:r>
              <a:rPr lang="en-US" sz="1100" b="1" dirty="0">
                <a:solidFill>
                  <a:srgbClr val="12263F"/>
                </a:solidFill>
                <a:latin typeface="Calibri" pitchFamily="34" charset="0"/>
                <a:ea typeface="Calibri" pitchFamily="34" charset="-122"/>
                <a:cs typeface="Calibri" pitchFamily="34" charset="-120"/>
              </a:rPr>
              <a:t>LinUCB picks the oracle's mode on 77% of tasks (always-bit: 65%). </a:t>
            </a:r>
            <a:pPr indent="0" marL="0">
              <a:buNone/>
            </a:pPr>
            <a:r>
              <a:rPr lang="en-US" sz="1100" dirty="0">
                <a:solidFill>
                  <a:srgbClr val="1B2A3A"/>
                </a:solidFill>
                <a:latin typeface="Calibri" pitchFamily="34" charset="0"/>
                <a:ea typeface="Calibri" pitchFamily="34" charset="-122"/>
                <a:cs typeface="Calibri" pitchFamily="34" charset="-120"/>
              </a:rPr>
              <a:t>Channel, quality requirement and urgency/delay information each matter (removing any group costs 0.05-0.08 reward); without engineered margin features it falls back to always-bit. Urgency and delay budget only matter together (deadlines come from urgency): removing both gives 0.45.</a:t>
            </a:r>
            <a:endParaRPr lang="en-US" sz="1100" dirty="0"/>
          </a:p>
        </p:txBody>
      </p:sp>
      <p:sp>
        <p:nvSpPr>
          <p:cNvPr id="6"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Machine Learning (25SC2107E)  |  Project Review 2</a:t>
            </a:r>
            <a:endParaRPr lang="en-US" sz="900" dirty="0"/>
          </a:p>
        </p:txBody>
      </p:sp>
      <p:sp>
        <p:nvSpPr>
          <p:cNvPr id="7"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Result 3: when does adaptation pay off?</a:t>
            </a:r>
            <a:endParaRPr lang="en-US" sz="2600" dirty="0"/>
          </a:p>
        </p:txBody>
      </p:sp>
      <p:graphicFrame>
        <p:nvGraphicFramePr>
          <p:cNvPr id="3" name="Chart 0" descr=""/>
          <p:cNvGraphicFramePr/>
          <p:nvPr/>
        </p:nvGraphicFramePr>
        <p:xfrm>
          <a:off x="365760" y="1051560"/>
          <a:ext cx="420624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51560"/>
          <a:ext cx="4023360" cy="29260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023360"/>
            <a:ext cx="8229600" cy="777240"/>
          </a:xfrm>
          <a:prstGeom prst="rect">
            <a:avLst/>
          </a:prstGeom>
          <a:noFill/>
          <a:ln/>
        </p:spPr>
        <p:txBody>
          <a:bodyPr wrap="square" lIns="0" tIns="0" rIns="0" bIns="0" rtlCol="0" anchor="t"/>
          <a:lstStyle/>
          <a:p>
            <a:pPr indent="0" marL="0">
              <a:buNone/>
            </a:pPr>
            <a:r>
              <a:rPr lang="en-US" sz="1050" b="1" dirty="0">
                <a:solidFill>
                  <a:srgbClr val="12263F"/>
                </a:solidFill>
                <a:latin typeface="Calibri" pitchFamily="34" charset="0"/>
                <a:ea typeface="Calibri" pitchFamily="34" charset="-122"/>
                <a:cs typeface="Calibri" pitchFamily="34" charset="-120"/>
              </a:rPr>
              <a:t>Energy scarcity drives the gain. </a:t>
            </a:r>
            <a:pPr indent="0" marL="0">
              <a:buNone/>
            </a:pPr>
            <a:r>
              <a:rPr lang="en-US" sz="1050" dirty="0">
                <a:solidFill>
                  <a:srgbClr val="1B2A3A"/>
                </a:solidFill>
                <a:latin typeface="Calibri" pitchFamily="34" charset="0"/>
                <a:ea typeface="Calibri" pitchFamily="34" charset="-122"/>
                <a:cs typeface="Calibri" pitchFamily="34" charset="-120"/>
              </a:rPr>
              <a:t>Best-fixed-to-oracle gap grows from 0.03 to 0.77; LinUCB closes about 43% of it. </a:t>
            </a:r>
            <a:pPr indent="0" marL="0">
              <a:buNone/>
            </a:pPr>
            <a:r>
              <a:rPr lang="en-US" sz="1050" b="1" dirty="0">
                <a:solidFill>
                  <a:srgbClr val="12263F"/>
                </a:solidFill>
                <a:latin typeface="Calibri" pitchFamily="34" charset="0"/>
                <a:ea typeface="Calibri" pitchFamily="34" charset="-122"/>
                <a:cs typeface="Calibri" pitchFamily="34" charset="-120"/>
              </a:rPr>
              <a:t>With a battery budget, DQN wins: </a:t>
            </a:r>
            <a:pPr indent="0" marL="0">
              <a:buNone/>
            </a:pPr>
            <a:r>
              <a:rPr lang="en-US" sz="1050" dirty="0">
                <a:solidFill>
                  <a:srgbClr val="1B2A3A"/>
                </a:solidFill>
                <a:latin typeface="Calibri" pitchFamily="34" charset="0"/>
                <a:ea typeface="Calibri" pitchFamily="34" charset="-122"/>
                <a:cs typeface="Calibri" pitchFamily="34" charset="-120"/>
              </a:rPr>
              <a:t>+0.62 over always-bit, best at every budget tested (60, 100, 140). Discount 0 scored best (-1.05 vs -1.22 at 0.9), so the edge appears to come from battery-aware nonlinear decisions rather than planning (not proven).</a:t>
            </a:r>
            <a:endParaRPr lang="en-US" sz="1050" dirty="0"/>
          </a:p>
        </p:txBody>
      </p:sp>
      <p:sp>
        <p:nvSpPr>
          <p:cNvPr id="6" name="Text 2"/>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Machine Learning (25SC2107E)  |  Project Review 2</a:t>
            </a:r>
            <a:endParaRPr lang="en-US" sz="900" dirty="0"/>
          </a:p>
        </p:txBody>
      </p:sp>
      <p:sp>
        <p:nvSpPr>
          <p:cNvPr id="7"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600" b="1" dirty="0">
                <a:solidFill>
                  <a:srgbClr val="12263F"/>
                </a:solidFill>
                <a:latin typeface="Cambria" pitchFamily="34" charset="0"/>
                <a:ea typeface="Cambria" pitchFamily="34" charset="-122"/>
                <a:cs typeface="Cambria" pitchFamily="34" charset="-120"/>
              </a:rPr>
              <a:t>Conclusions and contributions</a:t>
            </a:r>
            <a:endParaRPr lang="en-US" sz="2600" dirty="0"/>
          </a:p>
        </p:txBody>
      </p:sp>
      <p:sp>
        <p:nvSpPr>
          <p:cNvPr id="3" name="Shape 1"/>
          <p:cNvSpPr/>
          <p:nvPr/>
        </p:nvSpPr>
        <p:spPr>
          <a:xfrm>
            <a:off x="457200" y="1051560"/>
            <a:ext cx="4023360" cy="2148840"/>
          </a:xfrm>
          <a:prstGeom prst="roundRect">
            <a:avLst>
              <a:gd name="adj" fmla="val 3404"/>
            </a:avLst>
          </a:prstGeom>
          <a:solidFill>
            <a:srgbClr val="F3F6F9"/>
          </a:solidFill>
          <a:ln w="12700">
            <a:solidFill>
              <a:srgbClr val="F3F6F9"/>
            </a:solidFill>
            <a:prstDash val="solid"/>
          </a:ln>
        </p:spPr>
      </p:sp>
      <p:sp>
        <p:nvSpPr>
          <p:cNvPr id="4" name="Text 2"/>
          <p:cNvSpPr txBox="1"/>
          <p:nvPr/>
        </p:nvSpPr>
        <p:spPr>
          <a:xfrm>
            <a:off x="594360" y="1115568"/>
            <a:ext cx="3794760" cy="2011680"/>
          </a:xfrm>
          <a:prstGeom prst="rect">
            <a:avLst/>
          </a:prstGeom>
          <a:noFill/>
          <a:ln/>
        </p:spPr>
        <p:txBody>
          <a:bodyPr wrap="square" lIns="0" tIns="0" rIns="0" bIns="0" rtlCol="0" anchor="t"/>
          <a:lstStyle/>
          <a:p>
            <a:pPr indent="0" marL="0">
              <a:spcAft>
                <a:spcPts val="600"/>
              </a:spcAft>
              <a:buNone/>
            </a:pPr>
            <a:r>
              <a:rPr lang="en-US" sz="1300" b="1" dirty="0">
                <a:solidFill>
                  <a:srgbClr val="0E7C7B"/>
                </a:solidFill>
                <a:latin typeface="Calibri" pitchFamily="34" charset="0"/>
                <a:ea typeface="Calibri" pitchFamily="34" charset="-122"/>
                <a:cs typeface="Calibri" pitchFamily="34" charset="-120"/>
              </a:rPr>
              <a:t>Delivered: project complete</a:t>
            </a:r>
            <a:endParaRPr lang="en-US" sz="1300" dirty="0"/>
          </a:p>
          <a:p>
            <a:pPr indent="0" marL="0">
              <a:spcAft>
                <a:spcPts val="600"/>
              </a:spcAft>
              <a:buNone/>
            </a:pPr>
            <a:r>
              <a:rPr lang="en-US" sz="1150" dirty="0">
                <a:solidFill>
                  <a:srgbClr val="1B2A3A"/>
                </a:solidFill>
                <a:latin typeface="Calibri" pitchFamily="34" charset="0"/>
                <a:ea typeface="Calibri" pitchFamily="34" charset="-122"/>
                <a:cs typeface="Calibri" pitchFamily="34" charset="-120"/>
              </a:rPr>
              <a:t>✓  Simulator with deadlines, battery and channel model</a:t>
            </a:r>
            <a:endParaRPr lang="en-US" sz="1300" dirty="0"/>
          </a:p>
          <a:p>
            <a:pPr indent="0" marL="0">
              <a:spcAft>
                <a:spcPts val="600"/>
              </a:spcAft>
              <a:buNone/>
            </a:pPr>
            <a:r>
              <a:rPr lang="en-US" sz="1150" dirty="0">
                <a:solidFill>
                  <a:srgbClr val="1B2A3A"/>
                </a:solidFill>
                <a:latin typeface="Calibri" pitchFamily="34" charset="0"/>
                <a:ea typeface="Calibri" pitchFamily="34" charset="-122"/>
                <a:cs typeface="Calibri" pitchFamily="34" charset="-120"/>
              </a:rPr>
              <a:t>✓  5 baselines, 3 bandit learners, DQN</a:t>
            </a:r>
            <a:endParaRPr lang="en-US" sz="1300" dirty="0"/>
          </a:p>
          <a:p>
            <a:pPr indent="0" marL="0">
              <a:spcAft>
                <a:spcPts val="600"/>
              </a:spcAft>
              <a:buNone/>
            </a:pPr>
            <a:r>
              <a:rPr lang="en-US" sz="1150" dirty="0">
                <a:solidFill>
                  <a:srgbClr val="1B2A3A"/>
                </a:solidFill>
                <a:latin typeface="Calibri" pitchFamily="34" charset="0"/>
                <a:ea typeface="Calibri" pitchFamily="34" charset="-122"/>
                <a:cs typeface="Calibri" pitchFamily="34" charset="-120"/>
              </a:rPr>
              <a:t>✓  Evaluation: comparison, ablation, sensitivity, battery, 20k-task DQN</a:t>
            </a:r>
            <a:endParaRPr lang="en-US" sz="1300" dirty="0"/>
          </a:p>
          <a:p>
            <a:pPr indent="0" marL="0">
              <a:spcAft>
                <a:spcPts val="600"/>
              </a:spcAft>
              <a:buNone/>
            </a:pPr>
            <a:r>
              <a:rPr lang="en-US" sz="1150" dirty="0">
                <a:solidFill>
                  <a:srgbClr val="1B2A3A"/>
                </a:solidFill>
                <a:latin typeface="Calibri" pitchFamily="34" charset="0"/>
                <a:ea typeface="Calibri" pitchFamily="34" charset="-122"/>
                <a:cs typeface="Calibri" pitchFamily="34" charset="-120"/>
              </a:rPr>
              <a:t>✓  Working message system: send_message.py</a:t>
            </a:r>
            <a:endParaRPr lang="en-US" sz="1300" dirty="0"/>
          </a:p>
          <a:p>
            <a:pPr indent="0" marL="0">
              <a:spcAft>
                <a:spcPts val="600"/>
              </a:spcAft>
              <a:buNone/>
            </a:pPr>
            <a:r>
              <a:rPr lang="en-US" sz="1150" dirty="0">
                <a:solidFill>
                  <a:srgbClr val="1B2A3A"/>
                </a:solidFill>
                <a:latin typeface="Calibri" pitchFamily="34" charset="0"/>
                <a:ea typeface="Calibri" pitchFamily="34" charset="-122"/>
                <a:cs typeface="Calibri" pitchFamily="34" charset="-120"/>
              </a:rPr>
              <a:t>✓  Reproducible repo: run_all.py, 9 tests, README, Colab notebook</a:t>
            </a:r>
            <a:endParaRPr lang="en-US" sz="1300" dirty="0"/>
          </a:p>
        </p:txBody>
      </p:sp>
      <p:sp>
        <p:nvSpPr>
          <p:cNvPr id="5" name="Shape 3"/>
          <p:cNvSpPr/>
          <p:nvPr/>
        </p:nvSpPr>
        <p:spPr>
          <a:xfrm>
            <a:off x="4663440" y="1051560"/>
            <a:ext cx="4023360" cy="2148840"/>
          </a:xfrm>
          <a:prstGeom prst="roundRect">
            <a:avLst>
              <a:gd name="adj" fmla="val 3404"/>
            </a:avLst>
          </a:prstGeom>
          <a:solidFill>
            <a:srgbClr val="F3F6F9"/>
          </a:solidFill>
          <a:ln w="12700">
            <a:solidFill>
              <a:srgbClr val="F3F6F9"/>
            </a:solidFill>
            <a:prstDash val="solid"/>
          </a:ln>
        </p:spPr>
      </p:sp>
      <p:sp>
        <p:nvSpPr>
          <p:cNvPr id="6" name="Text 4"/>
          <p:cNvSpPr txBox="1"/>
          <p:nvPr/>
        </p:nvSpPr>
        <p:spPr>
          <a:xfrm>
            <a:off x="4800600" y="1115568"/>
            <a:ext cx="3794760" cy="2011680"/>
          </a:xfrm>
          <a:prstGeom prst="rect">
            <a:avLst/>
          </a:prstGeom>
          <a:noFill/>
          <a:ln/>
        </p:spPr>
        <p:txBody>
          <a:bodyPr wrap="square" lIns="0" tIns="0" rIns="0" bIns="0" rtlCol="0" anchor="t"/>
          <a:lstStyle/>
          <a:p>
            <a:pPr indent="0" marL="0">
              <a:spcAft>
                <a:spcPts val="600"/>
              </a:spcAft>
              <a:buNone/>
            </a:pPr>
            <a:r>
              <a:rPr lang="en-US" sz="1300" b="1" dirty="0">
                <a:solidFill>
                  <a:srgbClr val="12263F"/>
                </a:solidFill>
                <a:latin typeface="Calibri" pitchFamily="34" charset="0"/>
                <a:ea typeface="Calibri" pitchFamily="34" charset="-122"/>
                <a:cs typeface="Calibri" pitchFamily="34" charset="-120"/>
              </a:rPr>
              <a:t>Key findings</a:t>
            </a:r>
            <a:endParaRPr lang="en-US" sz="1300" dirty="0"/>
          </a:p>
          <a:p>
            <a:pPr indent="0" marL="0">
              <a:spcAft>
                <a:spcPts val="600"/>
              </a:spcAft>
              <a:buNone/>
            </a:pPr>
            <a:r>
              <a:rPr lang="en-US" sz="1100" dirty="0">
                <a:solidFill>
                  <a:srgbClr val="1B2A3A"/>
                </a:solidFill>
                <a:latin typeface="Calibri" pitchFamily="34" charset="0"/>
                <a:ea typeface="Calibri" pitchFamily="34" charset="-122"/>
                <a:cs typeface="Calibri" pitchFamily="34" charset="-120"/>
              </a:rPr>
              <a:t>•  Contextual bandits cut regret 27% vs always-bit; a hand rule made it worse</a:t>
            </a:r>
            <a:endParaRPr lang="en-US" sz="1300" dirty="0"/>
          </a:p>
          <a:p>
            <a:pPr indent="0" marL="0">
              <a:spcAft>
                <a:spcPts val="600"/>
              </a:spcAft>
              <a:buNone/>
            </a:pPr>
            <a:r>
              <a:rPr lang="en-US" sz="1100" dirty="0">
                <a:solidFill>
                  <a:srgbClr val="1B2A3A"/>
                </a:solidFill>
                <a:latin typeface="Calibri" pitchFamily="34" charset="0"/>
                <a:ea typeface="Calibri" pitchFamily="34" charset="-122"/>
                <a:cs typeface="Calibri" pitchFamily="34" charset="-120"/>
              </a:rPr>
              <a:t>•  Gain grows with energy scarcity (gap 0.03 to 0.77)</a:t>
            </a:r>
            <a:endParaRPr lang="en-US" sz="1300" dirty="0"/>
          </a:p>
          <a:p>
            <a:pPr indent="0" marL="0">
              <a:spcAft>
                <a:spcPts val="600"/>
              </a:spcAft>
              <a:buNone/>
            </a:pPr>
            <a:r>
              <a:rPr lang="en-US" sz="1100" dirty="0">
                <a:solidFill>
                  <a:srgbClr val="1B2A3A"/>
                </a:solidFill>
                <a:latin typeface="Calibri" pitchFamily="34" charset="0"/>
                <a:ea typeface="Calibri" pitchFamily="34" charset="-122"/>
                <a:cs typeface="Calibri" pitchFamily="34" charset="-120"/>
              </a:rPr>
              <a:t>•  With a battery budget DQN wins by +0.62</a:t>
            </a:r>
            <a:endParaRPr lang="en-US" sz="1300" dirty="0"/>
          </a:p>
          <a:p>
            <a:pPr indent="0" marL="0">
              <a:spcAft>
                <a:spcPts val="600"/>
              </a:spcAft>
              <a:buNone/>
            </a:pPr>
            <a:r>
              <a:rPr lang="en-US" sz="1100" dirty="0">
                <a:solidFill>
                  <a:srgbClr val="1B2A3A"/>
                </a:solidFill>
                <a:latin typeface="Calibri" pitchFamily="34" charset="0"/>
                <a:ea typeface="Calibri" pitchFamily="34" charset="-122"/>
                <a:cs typeface="Calibri" pitchFamily="34" charset="-120"/>
              </a:rPr>
              <a:t>•  On 16 real text messages: reward +0.83 vs +0.87 for always-bit, 12% less energy (on par, not better)</a:t>
            </a:r>
            <a:endParaRPr lang="en-US" sz="1300" dirty="0"/>
          </a:p>
        </p:txBody>
      </p:sp>
      <p:sp>
        <p:nvSpPr>
          <p:cNvPr id="7" name="Shape 5"/>
          <p:cNvSpPr/>
          <p:nvPr/>
        </p:nvSpPr>
        <p:spPr>
          <a:xfrm>
            <a:off x="457200" y="3383280"/>
            <a:ext cx="2606040" cy="1280160"/>
          </a:xfrm>
          <a:prstGeom prst="roundRect">
            <a:avLst>
              <a:gd name="adj" fmla="val 5714"/>
            </a:avLst>
          </a:prstGeom>
          <a:solidFill>
            <a:srgbClr val="D8EFEE"/>
          </a:solidFill>
          <a:ln w="12700">
            <a:solidFill>
              <a:srgbClr val="D8EFEE"/>
            </a:solidFill>
            <a:prstDash val="solid"/>
          </a:ln>
        </p:spPr>
      </p:sp>
      <p:sp>
        <p:nvSpPr>
          <p:cNvPr id="8" name="Shape 6"/>
          <p:cNvSpPr/>
          <p:nvPr/>
        </p:nvSpPr>
        <p:spPr>
          <a:xfrm>
            <a:off x="566928" y="3474720"/>
            <a:ext cx="365760" cy="365760"/>
          </a:xfrm>
          <a:prstGeom prst="ellipse">
            <a:avLst/>
          </a:prstGeom>
          <a:solidFill>
            <a:srgbClr val="0E7C7B"/>
          </a:solidFill>
          <a:ln w="12700">
            <a:solidFill>
              <a:srgbClr val="0E7C7B"/>
            </a:solidFill>
            <a:prstDash val="solid"/>
          </a:ln>
        </p:spPr>
      </p:sp>
      <p:pic>
        <p:nvPicPr>
          <p:cNvPr id="9" name="Image 0" descr="preencoded.png">    </p:cNvPr>
          <p:cNvPicPr>
            <a:picLocks noChangeAspect="1"/>
          </p:cNvPicPr>
          <p:nvPr/>
        </p:nvPicPr>
        <p:blipFill>
          <a:blip r:embed="rId1"/>
          <a:stretch>
            <a:fillRect/>
          </a:stretch>
        </p:blipFill>
        <p:spPr>
          <a:xfrm>
            <a:off x="654710" y="3562502"/>
            <a:ext cx="190195" cy="190195"/>
          </a:xfrm>
          <a:prstGeom prst="rect">
            <a:avLst/>
          </a:prstGeom>
        </p:spPr>
      </p:pic>
      <p:sp>
        <p:nvSpPr>
          <p:cNvPr id="10" name="Text 7"/>
          <p:cNvSpPr txBox="1"/>
          <p:nvPr/>
        </p:nvSpPr>
        <p:spPr>
          <a:xfrm>
            <a:off x="1024128" y="3474720"/>
            <a:ext cx="1920240" cy="365760"/>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[Member 1]</a:t>
            </a:r>
            <a:endParaRPr lang="en-US" sz="1300" dirty="0"/>
          </a:p>
        </p:txBody>
      </p:sp>
      <p:sp>
        <p:nvSpPr>
          <p:cNvPr id="11" name="Text 8"/>
          <p:cNvSpPr txBox="1"/>
          <p:nvPr/>
        </p:nvSpPr>
        <p:spPr>
          <a:xfrm>
            <a:off x="594360" y="3886200"/>
            <a:ext cx="2377440" cy="731520"/>
          </a:xfrm>
          <a:prstGeom prst="rect">
            <a:avLst/>
          </a:prstGeom>
          <a:noFill/>
          <a:ln/>
        </p:spPr>
        <p:txBody>
          <a:bodyPr wrap="square" lIns="0" tIns="0" rIns="0" bIns="0" rtlCol="0" anchor="t"/>
          <a:lstStyle/>
          <a:p>
            <a:pPr indent="0" marL="0">
              <a:buNone/>
            </a:pPr>
            <a:r>
              <a:rPr lang="en-US" sz="1050" dirty="0">
                <a:solidFill>
                  <a:srgbClr val="1B2A3A"/>
                </a:solidFill>
                <a:latin typeface="Calibri" pitchFamily="34" charset="0"/>
                <a:ea typeface="Calibri" pitchFamily="34" charset="-122"/>
                <a:cs typeface="Calibri" pitchFamily="34" charset="-120"/>
              </a:rPr>
              <a:t>Simulator (channel, tasks, costs, battery), baselines, message analyzer</a:t>
            </a:r>
            <a:endParaRPr lang="en-US" sz="1050" dirty="0"/>
          </a:p>
        </p:txBody>
      </p:sp>
      <p:sp>
        <p:nvSpPr>
          <p:cNvPr id="12" name="Shape 9"/>
          <p:cNvSpPr/>
          <p:nvPr/>
        </p:nvSpPr>
        <p:spPr>
          <a:xfrm>
            <a:off x="3268980" y="3383280"/>
            <a:ext cx="2606040" cy="1280160"/>
          </a:xfrm>
          <a:prstGeom prst="roundRect">
            <a:avLst>
              <a:gd name="adj" fmla="val 5714"/>
            </a:avLst>
          </a:prstGeom>
          <a:solidFill>
            <a:srgbClr val="D8EFEE"/>
          </a:solidFill>
          <a:ln w="12700">
            <a:solidFill>
              <a:srgbClr val="D8EFEE"/>
            </a:solidFill>
            <a:prstDash val="solid"/>
          </a:ln>
        </p:spPr>
      </p:sp>
      <p:sp>
        <p:nvSpPr>
          <p:cNvPr id="13" name="Shape 10"/>
          <p:cNvSpPr/>
          <p:nvPr/>
        </p:nvSpPr>
        <p:spPr>
          <a:xfrm>
            <a:off x="3378708" y="3474720"/>
            <a:ext cx="365760" cy="365760"/>
          </a:xfrm>
          <a:prstGeom prst="ellipse">
            <a:avLst/>
          </a:prstGeom>
          <a:solidFill>
            <a:srgbClr val="0E7C7B"/>
          </a:solidFill>
          <a:ln w="12700">
            <a:solidFill>
              <a:srgbClr val="0E7C7B"/>
            </a:solidFill>
            <a:prstDash val="solid"/>
          </a:ln>
        </p:spPr>
      </p:sp>
      <p:pic>
        <p:nvPicPr>
          <p:cNvPr id="14" name="Image 1" descr="preencoded.png">    </p:cNvPr>
          <p:cNvPicPr>
            <a:picLocks noChangeAspect="1"/>
          </p:cNvPicPr>
          <p:nvPr/>
        </p:nvPicPr>
        <p:blipFill>
          <a:blip r:embed="rId2"/>
          <a:stretch>
            <a:fillRect/>
          </a:stretch>
        </p:blipFill>
        <p:spPr>
          <a:xfrm>
            <a:off x="3466490" y="3562502"/>
            <a:ext cx="190195" cy="190195"/>
          </a:xfrm>
          <a:prstGeom prst="rect">
            <a:avLst/>
          </a:prstGeom>
        </p:spPr>
      </p:pic>
      <p:sp>
        <p:nvSpPr>
          <p:cNvPr id="15" name="Text 11"/>
          <p:cNvSpPr txBox="1"/>
          <p:nvPr/>
        </p:nvSpPr>
        <p:spPr>
          <a:xfrm>
            <a:off x="3835908" y="3474720"/>
            <a:ext cx="1920240" cy="365760"/>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[Member 2]</a:t>
            </a:r>
            <a:endParaRPr lang="en-US" sz="1300" dirty="0"/>
          </a:p>
        </p:txBody>
      </p:sp>
      <p:sp>
        <p:nvSpPr>
          <p:cNvPr id="16" name="Text 12"/>
          <p:cNvSpPr txBox="1"/>
          <p:nvPr/>
        </p:nvSpPr>
        <p:spPr>
          <a:xfrm>
            <a:off x="3406140" y="3886200"/>
            <a:ext cx="2377440" cy="731520"/>
          </a:xfrm>
          <a:prstGeom prst="rect">
            <a:avLst/>
          </a:prstGeom>
          <a:noFill/>
          <a:ln/>
        </p:spPr>
        <p:txBody>
          <a:bodyPr wrap="square" lIns="0" tIns="0" rIns="0" bIns="0" rtlCol="0" anchor="t"/>
          <a:lstStyle/>
          <a:p>
            <a:pPr indent="0" marL="0">
              <a:buNone/>
            </a:pPr>
            <a:r>
              <a:rPr lang="en-US" sz="1050" dirty="0">
                <a:solidFill>
                  <a:srgbClr val="1B2A3A"/>
                </a:solidFill>
                <a:latin typeface="Calibri" pitchFamily="34" charset="0"/>
                <a:ea typeface="Calibri" pitchFamily="34" charset="-122"/>
                <a:cs typeface="Calibri" pitchFamily="34" charset="-120"/>
              </a:rPr>
              <a:t>Features, LinUCB / Thompson / epsilon-greedy, tuning, ablation</a:t>
            </a:r>
            <a:endParaRPr lang="en-US" sz="1050" dirty="0"/>
          </a:p>
        </p:txBody>
      </p:sp>
      <p:sp>
        <p:nvSpPr>
          <p:cNvPr id="17" name="Shape 13"/>
          <p:cNvSpPr/>
          <p:nvPr/>
        </p:nvSpPr>
        <p:spPr>
          <a:xfrm>
            <a:off x="6080760" y="3383280"/>
            <a:ext cx="2606040" cy="1280160"/>
          </a:xfrm>
          <a:prstGeom prst="roundRect">
            <a:avLst>
              <a:gd name="adj" fmla="val 5714"/>
            </a:avLst>
          </a:prstGeom>
          <a:solidFill>
            <a:srgbClr val="D8EFEE"/>
          </a:solidFill>
          <a:ln w="12700">
            <a:solidFill>
              <a:srgbClr val="D8EFEE"/>
            </a:solidFill>
            <a:prstDash val="solid"/>
          </a:ln>
        </p:spPr>
      </p:sp>
      <p:sp>
        <p:nvSpPr>
          <p:cNvPr id="18" name="Shape 14"/>
          <p:cNvSpPr/>
          <p:nvPr/>
        </p:nvSpPr>
        <p:spPr>
          <a:xfrm>
            <a:off x="6190488" y="3474720"/>
            <a:ext cx="365760" cy="365760"/>
          </a:xfrm>
          <a:prstGeom prst="ellipse">
            <a:avLst/>
          </a:prstGeom>
          <a:solidFill>
            <a:srgbClr val="0E7C7B"/>
          </a:solidFill>
          <a:ln w="12700">
            <a:solidFill>
              <a:srgbClr val="0E7C7B"/>
            </a:solidFill>
            <a:prstDash val="solid"/>
          </a:ln>
        </p:spPr>
      </p:sp>
      <p:pic>
        <p:nvPicPr>
          <p:cNvPr id="19" name="Image 2" descr="preencoded.png">    </p:cNvPr>
          <p:cNvPicPr>
            <a:picLocks noChangeAspect="1"/>
          </p:cNvPicPr>
          <p:nvPr/>
        </p:nvPicPr>
        <p:blipFill>
          <a:blip r:embed="rId3"/>
          <a:stretch>
            <a:fillRect/>
          </a:stretch>
        </p:blipFill>
        <p:spPr>
          <a:xfrm>
            <a:off x="6278270" y="3562502"/>
            <a:ext cx="190195" cy="190195"/>
          </a:xfrm>
          <a:prstGeom prst="rect">
            <a:avLst/>
          </a:prstGeom>
        </p:spPr>
      </p:pic>
      <p:sp>
        <p:nvSpPr>
          <p:cNvPr id="20" name="Text 15"/>
          <p:cNvSpPr txBox="1"/>
          <p:nvPr/>
        </p:nvSpPr>
        <p:spPr>
          <a:xfrm>
            <a:off x="6647688" y="3474720"/>
            <a:ext cx="1920240" cy="365760"/>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[Member 3]</a:t>
            </a:r>
            <a:endParaRPr lang="en-US" sz="1300" dirty="0"/>
          </a:p>
        </p:txBody>
      </p:sp>
      <p:sp>
        <p:nvSpPr>
          <p:cNvPr id="21" name="Text 16"/>
          <p:cNvSpPr txBox="1"/>
          <p:nvPr/>
        </p:nvSpPr>
        <p:spPr>
          <a:xfrm>
            <a:off x="6217920" y="3886200"/>
            <a:ext cx="2377440" cy="731520"/>
          </a:xfrm>
          <a:prstGeom prst="rect">
            <a:avLst/>
          </a:prstGeom>
          <a:noFill/>
          <a:ln/>
        </p:spPr>
        <p:txBody>
          <a:bodyPr wrap="square" lIns="0" tIns="0" rIns="0" bIns="0" rtlCol="0" anchor="t"/>
          <a:lstStyle/>
          <a:p>
            <a:pPr indent="0" marL="0">
              <a:buNone/>
            </a:pPr>
            <a:r>
              <a:rPr lang="en-US" sz="1050" dirty="0">
                <a:solidFill>
                  <a:srgbClr val="1B2A3A"/>
                </a:solidFill>
                <a:latin typeface="Calibri" pitchFamily="34" charset="0"/>
                <a:ea typeface="Calibri" pitchFamily="34" charset="-122"/>
                <a:cs typeface="Calibri" pitchFamily="34" charset="-120"/>
              </a:rPr>
              <a:t>DQN, sensitivity and battery experiments, demo, README and GitHub</a:t>
            </a:r>
            <a:endParaRPr lang="en-US" sz="1050" dirty="0"/>
          </a:p>
        </p:txBody>
      </p:sp>
      <p:sp>
        <p:nvSpPr>
          <p:cNvPr id="22" name="Text 17"/>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Machine Learning (25SC2107E)  |  Project Review 2</a:t>
            </a:r>
            <a:endParaRPr lang="en-US" sz="900" dirty="0"/>
          </a:p>
        </p:txBody>
      </p:sp>
      <p:sp>
        <p:nvSpPr>
          <p:cNvPr id="23" name="Text 18"/>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63F"/>
        </a:solidFill>
      </p:bgPr>
    </p:bg>
    <p:spTree>
      <p:nvGrpSpPr>
        <p:cNvPr id="1" name=""/>
        <p:cNvGrpSpPr/>
        <p:nvPr/>
      </p:nvGrpSpPr>
      <p:grpSpPr>
        <a:xfrm>
          <a:off x="0" y="0"/>
          <a:ext cx="0" cy="0"/>
          <a:chOff x="0" y="0"/>
          <a:chExt cx="0" cy="0"/>
        </a:xfrm>
      </p:grpSpPr>
      <p:sp>
        <p:nvSpPr>
          <p:cNvPr id="2" name="Text 0"/>
          <p:cNvSpPr txBox="1"/>
          <p:nvPr/>
        </p:nvSpPr>
        <p:spPr>
          <a:xfrm>
            <a:off x="822960" y="1371600"/>
            <a:ext cx="7498080" cy="12801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822960" y="2743200"/>
            <a:ext cx="7498080" cy="548640"/>
          </a:xfrm>
          <a:prstGeom prst="rect">
            <a:avLst/>
          </a:prstGeom>
          <a:noFill/>
          <a:ln/>
        </p:spPr>
        <p:txBody>
          <a:bodyPr wrap="square" lIns="0" tIns="0" rIns="0" bIns="0" rtlCol="0" anchor="ctr"/>
          <a:lstStyle/>
          <a:p>
            <a:pPr indent="0" marL="0">
              <a:buNone/>
            </a:pPr>
            <a:r>
              <a:rPr lang="en-US" sz="2400" dirty="0">
                <a:solidFill>
                  <a:srgbClr val="E0A458"/>
                </a:solidFill>
                <a:latin typeface="Calibri" pitchFamily="34" charset="0"/>
                <a:ea typeface="Calibri" pitchFamily="34" charset="-122"/>
                <a:cs typeface="Calibri" pitchFamily="34" charset="-120"/>
              </a:rPr>
              <a:t>Questions?</a:t>
            </a:r>
            <a:endParaRPr lang="en-US" sz="2400" dirty="0"/>
          </a:p>
        </p:txBody>
      </p:sp>
      <p:sp>
        <p:nvSpPr>
          <p:cNvPr id="4" name="Text 2"/>
          <p:cNvSpPr txBox="1"/>
          <p:nvPr/>
        </p:nvSpPr>
        <p:spPr>
          <a:xfrm>
            <a:off x="822960" y="3931920"/>
            <a:ext cx="7498080" cy="36576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Likhita Sri Chakiri   |   [Member 2]   |   [Member 3]</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 2 - Contextual Bandit Hybrid Bit-Semantic Transmission Selection for UAVs</dc:title>
  <dc:subject>PptxGenJS Presentation</dc:subject>
  <dc:creator>PptxGenJS</dc:creator>
  <cp:lastModifiedBy>PptxGenJS</cp:lastModifiedBy>
  <cp:revision>1</cp:revision>
  <dcterms:created xsi:type="dcterms:W3CDTF">2026-09-28T04:15:23Z</dcterms:created>
  <dcterms:modified xsi:type="dcterms:W3CDTF">2026-09-28T04:15:23Z</dcterms:modified>
</cp:coreProperties>
</file>